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JA Jayagiri Sans Rough" charset="1" panose="00000000000000000000"/>
      <p:regular r:id="rId19"/>
    </p:embeddedFont>
    <p:embeddedFont>
      <p:font typeface="TT Interphases" charset="1" panose="02000503020000020004"/>
      <p:regular r:id="rId20"/>
    </p:embeddedFont>
    <p:embeddedFont>
      <p:font typeface="TT Interphases Bold" charset="1" panose="020008030600000200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notesSlides/notesSlide2.xml" Type="http://schemas.openxmlformats.org/officeDocument/2006/relationships/notesSlide"/><Relationship Id="rId26" Target="notesSlides/notesSlide3.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Opening &amp; transition dari presenter sebelumnya:</a:t>
            </a:r>
          </a:p>
          <a:p>
            <a:r>
              <a:rPr lang="en-US"/>
              <a:t>“Continuing from the previous explanation of our full regression model, I will now present the final OLS model after applying backward selection.”</a:t>
            </a:r>
          </a:p>
          <a:p>
            <a:r>
              <a:rPr lang="en-US"/>
              <a:t>Isi penjelasan slide:</a:t>
            </a:r>
          </a:p>
          <a:p>
            <a:r>
              <a:rPr lang="en-US"/>
              <a:t>“Based on the backward selection procedure, the final OLS model retains three key predictors: sleep quality, productivity, and mental wellness.”</a:t>
            </a:r>
          </a:p>
          <a:p>
            <a:r>
              <a:rPr lang="en-US"/>
              <a:t>“These variables were selected because they remain statistically significant and contribute meaningfully to explaining stress levels.”</a:t>
            </a:r>
          </a:p>
          <a:p>
            <a:r>
              <a:rPr lang="en-US"/>
              <a:t>“The reduced model achieves an R-squared value of 85.62%, which is only slightly lower than the full model. This indicates that the explanatory power remains high despite using fewer predictors.”</a:t>
            </a:r>
          </a:p>
          <a:p>
            <a:r>
              <a:rPr lang="en-US"/>
              <a:t>“Therefore, this reduced model was adopted as the final OLS specification, and these three variables were used in all subsequent analyses and diagnostic tests.”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establishing the final OLS model, we conducted several diagnostic tests to evaluate whether the classical OLS assumptions were satisfied.”</a:t>
            </a:r>
          </a:p>
          <a:p>
            <a:r>
              <a:rPr lang="en-US"/>
              <a:t>“First, the Kolmogorov–Smirnov test shows a p-value greater than 0.05, indicating that the residuals are normally distributed.”</a:t>
            </a:r>
          </a:p>
          <a:p>
            <a:r>
              <a:rPr lang="en-US"/>
              <a:t>“Second, the Durbin–Watson test yields a p-value of 0.6939, suggesting that there is no evidence of autocorrelation in the residuals.”</a:t>
            </a:r>
          </a:p>
          <a:p>
            <a:r>
              <a:rPr lang="en-US"/>
              <a:t>“Third, the Variance Inflation Factor values for all predictors are below 10, which means there is no multicollinearity problem.”</a:t>
            </a:r>
          </a:p>
          <a:p>
            <a:r>
              <a:rPr lang="en-US"/>
              <a:t>“However, the Breusch–Pagan test produces a p-value below 0.05, indicating a violation of the homoskedasticity assumption.”</a:t>
            </a:r>
          </a:p>
          <a:p>
            <a:r>
              <a:rPr lang="en-US"/>
              <a:t>“Because heteroskedasticity is present, the OLS estimates may be inefficient, which motivates the use of an alternative estimation method.”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address the heteroskedasticity issue identified in the OLS model, we re-estimated the regression using the Generalized Least Squares, or GLS, approach.”</a:t>
            </a:r>
          </a:p>
          <a:p>
            <a:r>
              <a:rPr lang="en-US"/>
              <a:t>“The GLS results show that productivity and mental wellness continue to have negative and statistically significant effects on stress levels, while sleep quality remains an important predictor.”</a:t>
            </a:r>
          </a:p>
          <a:p>
            <a:r>
              <a:rPr lang="en-US"/>
              <a:t>“Importantly, the coefficient signs and significance levels are consistent with the OLS results, indicating robustness of the findings.”</a:t>
            </a:r>
          </a:p>
          <a:p>
            <a:r>
              <a:rPr lang="en-US"/>
              <a:t>“Diagnostic tests confirm a substantial reduction in heteroskedasticity, making the GLS estimates more efficient and reliable.”</a:t>
            </a:r>
          </a:p>
          <a:p>
            <a:r>
              <a:rPr lang="en-US"/>
              <a:t>“Therefore, the GLS model is adopted as the preferred and final specification for explaining stress levels.”</a:t>
            </a:r>
          </a:p>
          <a:p>
            <a:r>
              <a:rPr lang="en-US"/>
              <a:t>Kalimat penutup &amp; handoff ke Tasya:</a:t>
            </a:r>
          </a:p>
          <a:p>
            <a:r>
              <a:rPr lang="en-US"/>
              <a:t>“That concludes my part of the presentation. I will now hand over the next section to my teammate.”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png" Type="http://schemas.openxmlformats.org/officeDocument/2006/relationships/image"/><Relationship Id="rId6"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embeddings/oleObject2.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1.png" Type="http://schemas.openxmlformats.org/officeDocument/2006/relationships/image"/><Relationship Id="rId7" Target="../embeddings/oleObject3.bin" Type="http://schemas.openxmlformats.org/officeDocument/2006/relationships/oleObject"/><Relationship Id="rId8" Target="../media/image22.png" Type="http://schemas.openxmlformats.org/officeDocument/2006/relationships/image"/><Relationship Id="rId9" Target="../media/image2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4.png" Type="http://schemas.openxmlformats.org/officeDocument/2006/relationships/image"/><Relationship Id="rId6" Target="../embeddings/oleObject4.bin" Type="http://schemas.openxmlformats.org/officeDocument/2006/relationships/oleObject"/><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https://drive.google.com/file/d/1xoZnNJ4jH7Ubftn0Pghi_bOro5qM-Y88/view?usp=sharing"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12" Target="../media/image4.png" Type="http://schemas.openxmlformats.org/officeDocument/2006/relationships/image"/><Relationship Id="rId13" Target="../media/image5.svg" Type="http://schemas.openxmlformats.org/officeDocument/2006/relationships/image"/><Relationship Id="rId14" Target="../media/image6.png" Type="http://schemas.openxmlformats.org/officeDocument/2006/relationships/image"/><Relationship Id="rId15" Target="../media/image7.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2576436" y="-536643"/>
            <a:ext cx="7038810" cy="6323233"/>
          </a:xfrm>
          <a:custGeom>
            <a:avLst/>
            <a:gdLst/>
            <a:ahLst/>
            <a:cxnLst/>
            <a:rect r="r" b="b" t="t" l="l"/>
            <a:pathLst>
              <a:path h="6323233" w="7038810">
                <a:moveTo>
                  <a:pt x="0" y="0"/>
                </a:moveTo>
                <a:lnTo>
                  <a:pt x="7038811" y="0"/>
                </a:lnTo>
                <a:lnTo>
                  <a:pt x="7038811" y="6323233"/>
                </a:lnTo>
                <a:lnTo>
                  <a:pt x="0" y="6323233"/>
                </a:lnTo>
                <a:lnTo>
                  <a:pt x="0" y="0"/>
                </a:lnTo>
                <a:close/>
              </a:path>
            </a:pathLst>
          </a:custGeom>
          <a:blipFill>
            <a:blip r:embed="rId2"/>
            <a:stretch>
              <a:fillRect l="0" t="0" r="0" b="-387"/>
            </a:stretch>
          </a:blipFill>
        </p:spPr>
      </p:sp>
      <p:sp>
        <p:nvSpPr>
          <p:cNvPr name="Freeform 3" id="3"/>
          <p:cNvSpPr/>
          <p:nvPr/>
        </p:nvSpPr>
        <p:spPr>
          <a:xfrm flipH="false" flipV="false" rot="0">
            <a:off x="9691035" y="756276"/>
            <a:ext cx="9551092" cy="10060628"/>
          </a:xfrm>
          <a:custGeom>
            <a:avLst/>
            <a:gdLst/>
            <a:ahLst/>
            <a:cxnLst/>
            <a:rect r="r" b="b" t="t" l="l"/>
            <a:pathLst>
              <a:path h="10060628" w="9551092">
                <a:moveTo>
                  <a:pt x="0" y="0"/>
                </a:moveTo>
                <a:lnTo>
                  <a:pt x="9551093" y="0"/>
                </a:lnTo>
                <a:lnTo>
                  <a:pt x="9551093" y="10060628"/>
                </a:lnTo>
                <a:lnTo>
                  <a:pt x="0" y="100606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427129" y="5335823"/>
            <a:ext cx="7038810" cy="6323233"/>
          </a:xfrm>
          <a:custGeom>
            <a:avLst/>
            <a:gdLst/>
            <a:ahLst/>
            <a:cxnLst/>
            <a:rect r="r" b="b" t="t" l="l"/>
            <a:pathLst>
              <a:path h="6323233" w="7038810">
                <a:moveTo>
                  <a:pt x="0" y="0"/>
                </a:moveTo>
                <a:lnTo>
                  <a:pt x="7038811" y="0"/>
                </a:lnTo>
                <a:lnTo>
                  <a:pt x="7038811" y="6323233"/>
                </a:lnTo>
                <a:lnTo>
                  <a:pt x="0" y="6323233"/>
                </a:lnTo>
                <a:lnTo>
                  <a:pt x="0" y="0"/>
                </a:lnTo>
                <a:close/>
              </a:path>
            </a:pathLst>
          </a:custGeom>
          <a:blipFill>
            <a:blip r:embed="rId2"/>
            <a:stretch>
              <a:fillRect l="0" t="0" r="0" b="-387"/>
            </a:stretch>
          </a:blipFill>
        </p:spPr>
      </p:sp>
      <p:sp>
        <p:nvSpPr>
          <p:cNvPr name="AutoShape 5" id="5"/>
          <p:cNvSpPr/>
          <p:nvPr/>
        </p:nvSpPr>
        <p:spPr>
          <a:xfrm>
            <a:off x="1587637" y="7311467"/>
            <a:ext cx="0" cy="1579227"/>
          </a:xfrm>
          <a:prstGeom prst="line">
            <a:avLst/>
          </a:prstGeom>
          <a:ln cap="rnd" w="57150">
            <a:solidFill>
              <a:srgbClr val="FFFFFF"/>
            </a:solidFill>
            <a:prstDash val="solid"/>
            <a:headEnd type="none" len="sm" w="sm"/>
            <a:tailEnd type="none" len="sm" w="sm"/>
          </a:ln>
        </p:spPr>
      </p:sp>
      <p:sp>
        <p:nvSpPr>
          <p:cNvPr name="Freeform 6" id="6"/>
          <p:cNvSpPr/>
          <p:nvPr/>
        </p:nvSpPr>
        <p:spPr>
          <a:xfrm flipH="false" flipV="false" rot="0">
            <a:off x="7678482" y="7660167"/>
            <a:ext cx="2227947" cy="2227947"/>
          </a:xfrm>
          <a:custGeom>
            <a:avLst/>
            <a:gdLst/>
            <a:ahLst/>
            <a:cxnLst/>
            <a:rect r="r" b="b" t="t" l="l"/>
            <a:pathLst>
              <a:path h="2227947" w="2227947">
                <a:moveTo>
                  <a:pt x="0" y="0"/>
                </a:moveTo>
                <a:lnTo>
                  <a:pt x="2227947" y="0"/>
                </a:lnTo>
                <a:lnTo>
                  <a:pt x="2227947" y="2227947"/>
                </a:lnTo>
                <a:lnTo>
                  <a:pt x="0" y="22279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340922" y="756276"/>
            <a:ext cx="2227947" cy="2227947"/>
          </a:xfrm>
          <a:custGeom>
            <a:avLst/>
            <a:gdLst/>
            <a:ahLst/>
            <a:cxnLst/>
            <a:rect r="r" b="b" t="t" l="l"/>
            <a:pathLst>
              <a:path h="2227947" w="2227947">
                <a:moveTo>
                  <a:pt x="0" y="0"/>
                </a:moveTo>
                <a:lnTo>
                  <a:pt x="2227947" y="0"/>
                </a:lnTo>
                <a:lnTo>
                  <a:pt x="2227947" y="2227947"/>
                </a:lnTo>
                <a:lnTo>
                  <a:pt x="0" y="22279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168444" y="-307287"/>
            <a:ext cx="1522591" cy="614573"/>
          </a:xfrm>
          <a:custGeom>
            <a:avLst/>
            <a:gdLst/>
            <a:ahLst/>
            <a:cxnLst/>
            <a:rect r="r" b="b" t="t" l="l"/>
            <a:pathLst>
              <a:path h="614573" w="1522591">
                <a:moveTo>
                  <a:pt x="0" y="0"/>
                </a:moveTo>
                <a:lnTo>
                  <a:pt x="1522591" y="0"/>
                </a:lnTo>
                <a:lnTo>
                  <a:pt x="1522591" y="614574"/>
                </a:lnTo>
                <a:lnTo>
                  <a:pt x="0" y="614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587637" y="2336383"/>
            <a:ext cx="11484160" cy="4029275"/>
          </a:xfrm>
          <a:prstGeom prst="rect">
            <a:avLst/>
          </a:prstGeom>
        </p:spPr>
        <p:txBody>
          <a:bodyPr anchor="t" rtlCol="false" tIns="0" lIns="0" bIns="0" rIns="0">
            <a:spAutoFit/>
          </a:bodyPr>
          <a:lstStyle/>
          <a:p>
            <a:pPr algn="l">
              <a:lnSpc>
                <a:spcPts val="6361"/>
              </a:lnSpc>
            </a:pPr>
            <a:r>
              <a:rPr lang="en-US" sz="5783" spc="-260">
                <a:solidFill>
                  <a:srgbClr val="FDCA01"/>
                </a:solidFill>
                <a:latin typeface="JA Jayagiri Sans Rough"/>
                <a:ea typeface="JA Jayagiri Sans Rough"/>
                <a:cs typeface="JA Jayagiri Sans Rough"/>
                <a:sym typeface="JA Jayagiri Sans Rough"/>
              </a:rPr>
              <a:t>Generalized Least Squares Analysis </a:t>
            </a:r>
            <a:r>
              <a:rPr lang="en-US" sz="5783" spc="-260">
                <a:solidFill>
                  <a:srgbClr val="FFFFFF"/>
                </a:solidFill>
                <a:latin typeface="JA Jayagiri Sans Rough"/>
                <a:ea typeface="JA Jayagiri Sans Rough"/>
                <a:cs typeface="JA Jayagiri Sans Rough"/>
                <a:sym typeface="JA Jayagiri Sans Rough"/>
              </a:rPr>
              <a:t>of Stress Level Based on Sleep Quality, Mental Wellness, and Productivity  </a:t>
            </a:r>
          </a:p>
        </p:txBody>
      </p:sp>
      <p:sp>
        <p:nvSpPr>
          <p:cNvPr name="TextBox 10" id="10"/>
          <p:cNvSpPr txBox="true"/>
          <p:nvPr/>
        </p:nvSpPr>
        <p:spPr>
          <a:xfrm rot="0">
            <a:off x="1887025" y="7252394"/>
            <a:ext cx="6776195" cy="1638300"/>
          </a:xfrm>
          <a:prstGeom prst="rect">
            <a:avLst/>
          </a:prstGeom>
        </p:spPr>
        <p:txBody>
          <a:bodyPr anchor="t" rtlCol="false" tIns="0" lIns="0" bIns="0" rIns="0">
            <a:spAutoFit/>
          </a:bodyPr>
          <a:lstStyle/>
          <a:p>
            <a:pPr algn="l" marL="585051" indent="-292526" lvl="1">
              <a:lnSpc>
                <a:spcPts val="3251"/>
              </a:lnSpc>
              <a:buFont typeface="Arial"/>
              <a:buChar char="•"/>
            </a:pPr>
            <a:r>
              <a:rPr lang="en-US" sz="2709" spc="-54">
                <a:solidFill>
                  <a:srgbClr val="FDCA01"/>
                </a:solidFill>
                <a:latin typeface="TT Interphases"/>
                <a:ea typeface="TT Interphases"/>
                <a:cs typeface="TT Interphases"/>
                <a:sym typeface="TT Interphases"/>
              </a:rPr>
              <a:t>Bella Nadya Aurelia (2702371565)</a:t>
            </a:r>
          </a:p>
          <a:p>
            <a:pPr algn="l" marL="585051" indent="-292526" lvl="1">
              <a:lnSpc>
                <a:spcPts val="3251"/>
              </a:lnSpc>
              <a:buFont typeface="Arial"/>
              <a:buChar char="•"/>
            </a:pPr>
            <a:r>
              <a:rPr lang="en-US" sz="2709" spc="-54">
                <a:solidFill>
                  <a:srgbClr val="FDCA01"/>
                </a:solidFill>
                <a:latin typeface="TT Interphases"/>
                <a:ea typeface="TT Interphases"/>
                <a:cs typeface="TT Interphases"/>
                <a:sym typeface="TT Interphases"/>
              </a:rPr>
              <a:t>Leora Natania Klarise Purba (2702217195)</a:t>
            </a:r>
          </a:p>
          <a:p>
            <a:pPr algn="l" marL="585051" indent="-292526" lvl="1">
              <a:lnSpc>
                <a:spcPts val="3251"/>
              </a:lnSpc>
              <a:buFont typeface="Arial"/>
              <a:buChar char="•"/>
            </a:pPr>
            <a:r>
              <a:rPr lang="en-US" sz="2709" spc="-54">
                <a:solidFill>
                  <a:srgbClr val="FDCA01"/>
                </a:solidFill>
                <a:latin typeface="TT Interphases"/>
                <a:ea typeface="TT Interphases"/>
                <a:cs typeface="TT Interphases"/>
                <a:sym typeface="TT Interphases"/>
              </a:rPr>
              <a:t>Sanly (2702271474)</a:t>
            </a:r>
          </a:p>
          <a:p>
            <a:pPr algn="l" marL="585051" indent="-292526" lvl="1">
              <a:lnSpc>
                <a:spcPts val="3251"/>
              </a:lnSpc>
              <a:buFont typeface="Arial"/>
              <a:buChar char="•"/>
            </a:pPr>
            <a:r>
              <a:rPr lang="en-US" sz="2709" spc="-54">
                <a:solidFill>
                  <a:srgbClr val="FDCA01"/>
                </a:solidFill>
                <a:latin typeface="TT Interphases"/>
                <a:ea typeface="TT Interphases"/>
                <a:cs typeface="TT Interphases"/>
                <a:sym typeface="TT Interphases"/>
              </a:rPr>
              <a:t>Zahra Annisa (2702284086)</a:t>
            </a:r>
          </a:p>
        </p:txBody>
      </p:sp>
      <p:sp>
        <p:nvSpPr>
          <p:cNvPr name="TextBox 11" id="11"/>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1910080" y="-2151147"/>
            <a:ext cx="9848271" cy="7378453"/>
          </a:xfrm>
          <a:custGeom>
            <a:avLst/>
            <a:gdLst/>
            <a:ahLst/>
            <a:cxnLst/>
            <a:rect r="r" b="b" t="t" l="l"/>
            <a:pathLst>
              <a:path h="7378453" w="9848271">
                <a:moveTo>
                  <a:pt x="0" y="0"/>
                </a:moveTo>
                <a:lnTo>
                  <a:pt x="9848271" y="0"/>
                </a:lnTo>
                <a:lnTo>
                  <a:pt x="9848271" y="7378453"/>
                </a:lnTo>
                <a:lnTo>
                  <a:pt x="0" y="73784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314810" y="4765751"/>
            <a:ext cx="7038810" cy="6323233"/>
          </a:xfrm>
          <a:custGeom>
            <a:avLst/>
            <a:gdLst/>
            <a:ahLst/>
            <a:cxnLst/>
            <a:rect r="r" b="b" t="t" l="l"/>
            <a:pathLst>
              <a:path h="6323233" w="7038810">
                <a:moveTo>
                  <a:pt x="0" y="0"/>
                </a:moveTo>
                <a:lnTo>
                  <a:pt x="7038811" y="0"/>
                </a:lnTo>
                <a:lnTo>
                  <a:pt x="7038811" y="6323233"/>
                </a:lnTo>
                <a:lnTo>
                  <a:pt x="0" y="6323233"/>
                </a:lnTo>
                <a:lnTo>
                  <a:pt x="0" y="0"/>
                </a:lnTo>
                <a:close/>
              </a:path>
            </a:pathLst>
          </a:custGeom>
          <a:blipFill>
            <a:blip r:embed="rId4"/>
            <a:stretch>
              <a:fillRect l="0" t="0" r="0" b="-387"/>
            </a:stretch>
          </a:blipFill>
        </p:spPr>
      </p:sp>
      <p:sp>
        <p:nvSpPr>
          <p:cNvPr name="Freeform 4" id="4"/>
          <p:cNvSpPr/>
          <p:nvPr/>
        </p:nvSpPr>
        <p:spPr>
          <a:xfrm flipH="false" flipV="false" rot="0">
            <a:off x="-3519405" y="-1925204"/>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4"/>
            <a:stretch>
              <a:fillRect l="0" t="0" r="0" b="-387"/>
            </a:stretch>
          </a:blipFill>
        </p:spPr>
      </p:sp>
      <p:sp>
        <p:nvSpPr>
          <p:cNvPr name="Freeform 5" id="5"/>
          <p:cNvSpPr/>
          <p:nvPr/>
        </p:nvSpPr>
        <p:spPr>
          <a:xfrm flipH="false" flipV="false" rot="0">
            <a:off x="-1824301" y="7156988"/>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4"/>
            <a:stretch>
              <a:fillRect l="0" t="0" r="0" b="-387"/>
            </a:stretch>
          </a:blipFill>
        </p:spPr>
      </p:sp>
      <p:sp>
        <p:nvSpPr>
          <p:cNvPr name="TextBox 6" id="6"/>
          <p:cNvSpPr txBox="true"/>
          <p:nvPr/>
        </p:nvSpPr>
        <p:spPr>
          <a:xfrm rot="0">
            <a:off x="4973190" y="1076325"/>
            <a:ext cx="8341621" cy="971135"/>
          </a:xfrm>
          <a:prstGeom prst="rect">
            <a:avLst/>
          </a:prstGeom>
        </p:spPr>
        <p:txBody>
          <a:bodyPr anchor="t" rtlCol="false" tIns="0" lIns="0" bIns="0" rIns="0">
            <a:spAutoFit/>
          </a:bodyPr>
          <a:lstStyle/>
          <a:p>
            <a:pPr algn="ctr">
              <a:lnSpc>
                <a:spcPts val="7389"/>
              </a:lnSpc>
            </a:pPr>
            <a:r>
              <a:rPr lang="en-US" sz="6717" spc="-302">
                <a:solidFill>
                  <a:srgbClr val="FDCA01"/>
                </a:solidFill>
                <a:latin typeface="JA Jayagiri Sans Rough"/>
                <a:ea typeface="JA Jayagiri Sans Rough"/>
                <a:cs typeface="JA Jayagiri Sans Rough"/>
                <a:sym typeface="JA Jayagiri Sans Rough"/>
              </a:rPr>
              <a:t>Introduction</a:t>
            </a:r>
          </a:p>
        </p:txBody>
      </p:sp>
      <p:sp>
        <p:nvSpPr>
          <p:cNvPr name="Freeform 7" id="7"/>
          <p:cNvSpPr/>
          <p:nvPr/>
        </p:nvSpPr>
        <p:spPr>
          <a:xfrm flipH="false" flipV="false" rot="0">
            <a:off x="294218" y="9444639"/>
            <a:ext cx="1468964" cy="1468964"/>
          </a:xfrm>
          <a:custGeom>
            <a:avLst/>
            <a:gdLst/>
            <a:ahLst/>
            <a:cxnLst/>
            <a:rect r="r" b="b" t="t" l="l"/>
            <a:pathLst>
              <a:path h="1468964" w="1468964">
                <a:moveTo>
                  <a:pt x="0" y="0"/>
                </a:moveTo>
                <a:lnTo>
                  <a:pt x="1468964" y="0"/>
                </a:lnTo>
                <a:lnTo>
                  <a:pt x="1468964" y="1468964"/>
                </a:lnTo>
                <a:lnTo>
                  <a:pt x="0" y="14689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043491" y="2217640"/>
            <a:ext cx="14367440" cy="7340239"/>
          </a:xfrm>
          <a:prstGeom prst="rect">
            <a:avLst/>
          </a:prstGeom>
        </p:spPr>
        <p:txBody>
          <a:bodyPr anchor="t" rtlCol="false" tIns="0" lIns="0" bIns="0" rIns="0">
            <a:spAutoFit/>
          </a:bodyPr>
          <a:lstStyle/>
          <a:p>
            <a:pPr algn="just">
              <a:lnSpc>
                <a:spcPts val="3070"/>
              </a:lnSpc>
            </a:pPr>
            <a:r>
              <a:rPr lang="en-US" sz="2791" spc="-125">
                <a:solidFill>
                  <a:srgbClr val="FFFFFF"/>
                </a:solidFill>
                <a:latin typeface="TT Interphases"/>
                <a:ea typeface="TT Interphases"/>
                <a:cs typeface="TT Interphases"/>
                <a:sym typeface="TT Interphases"/>
              </a:rPr>
              <a:t>Work stress has become a major issue in today’s high-pressure work environment, affecting both physical and mental well-being as well as job performance. In 2023, the Health and Safety Executive reported </a:t>
            </a:r>
            <a:r>
              <a:rPr lang="en-US" b="true" sz="2791" spc="-125">
                <a:solidFill>
                  <a:srgbClr val="FDCA01"/>
                </a:solidFill>
                <a:latin typeface="TT Interphases Bold"/>
                <a:ea typeface="TT Interphases Bold"/>
                <a:cs typeface="TT Interphases Bold"/>
                <a:sym typeface="TT Interphases Bold"/>
              </a:rPr>
              <a:t>875,000 cases of work-related stress, depression, and anxiety,</a:t>
            </a:r>
            <a:r>
              <a:rPr lang="en-US" sz="2791" spc="-125">
                <a:solidFill>
                  <a:srgbClr val="FFFFFF"/>
                </a:solidFill>
                <a:latin typeface="TT Interphases"/>
                <a:ea typeface="TT Interphases"/>
                <a:cs typeface="TT Interphases"/>
                <a:sym typeface="TT Interphases"/>
              </a:rPr>
              <a:t> highlighting stress as a significant public health concern.</a:t>
            </a:r>
          </a:p>
          <a:p>
            <a:pPr algn="just">
              <a:lnSpc>
                <a:spcPts val="3070"/>
              </a:lnSpc>
            </a:pPr>
          </a:p>
          <a:p>
            <a:pPr algn="just">
              <a:lnSpc>
                <a:spcPts val="3070"/>
              </a:lnSpc>
            </a:pPr>
            <a:r>
              <a:rPr lang="en-US" sz="2791" spc="-125">
                <a:solidFill>
                  <a:srgbClr val="FFFFFF"/>
                </a:solidFill>
                <a:latin typeface="TT Interphases"/>
                <a:ea typeface="TT Interphases"/>
                <a:cs typeface="TT Interphases"/>
                <a:sym typeface="TT Interphases"/>
              </a:rPr>
              <a:t>Work stress is commonly driven by excessive workload, time pressure, and interpersonal conflicts, particularly among employed and self-employed workers. </a:t>
            </a:r>
            <a:r>
              <a:rPr lang="en-US" b="true" sz="2791" spc="-125">
                <a:solidFill>
                  <a:srgbClr val="FDCA01"/>
                </a:solidFill>
                <a:latin typeface="TT Interphases Bold"/>
                <a:ea typeface="TT Interphases Bold"/>
                <a:cs typeface="TT Interphases Bold"/>
                <a:sym typeface="TT Interphases Bold"/>
              </a:rPr>
              <a:t>High stress levels are strongly associated with poor sleep quality, declining mental well-being, and reduced productivity.</a:t>
            </a:r>
            <a:r>
              <a:rPr lang="en-US" sz="2791" spc="-125">
                <a:solidFill>
                  <a:srgbClr val="FFFFFF"/>
                </a:solidFill>
                <a:latin typeface="TT Interphases"/>
                <a:ea typeface="TT Interphases"/>
                <a:cs typeface="TT Interphases"/>
                <a:sym typeface="TT Interphases"/>
              </a:rPr>
              <a:t> Previous studies across various professions, including nurses and lecturers, consistently show that increased work stress disrupts sleep and lowers overall psychological health, which in turn negatively impacts productivity.</a:t>
            </a:r>
          </a:p>
          <a:p>
            <a:pPr algn="just">
              <a:lnSpc>
                <a:spcPts val="3070"/>
              </a:lnSpc>
            </a:pPr>
          </a:p>
          <a:p>
            <a:pPr algn="just">
              <a:lnSpc>
                <a:spcPts val="3070"/>
              </a:lnSpc>
            </a:pPr>
            <a:r>
              <a:rPr lang="en-US" sz="2791" spc="-125">
                <a:solidFill>
                  <a:srgbClr val="FFFFFF"/>
                </a:solidFill>
                <a:latin typeface="TT Interphases"/>
                <a:ea typeface="TT Interphases"/>
                <a:cs typeface="TT Interphases"/>
                <a:sym typeface="TT Interphases"/>
              </a:rPr>
              <a:t>Although many studies have examined the relationship between stress, sleep quality, mental well-being, and productivity, most rely on Ordinary Least Squares (OLS) regression, which assumes homoscedasticity. However, behavioural data often violate this assumption. This study addresses this methodological gap by applying </a:t>
            </a:r>
            <a:r>
              <a:rPr lang="en-US" b="true" sz="2791" spc="-125">
                <a:solidFill>
                  <a:srgbClr val="FDCA01"/>
                </a:solidFill>
                <a:latin typeface="TT Interphases Bold"/>
                <a:ea typeface="TT Interphases Bold"/>
                <a:cs typeface="TT Interphases Bold"/>
                <a:sym typeface="TT Interphases Bold"/>
              </a:rPr>
              <a:t>Generalized Least Squares (GLS) to jointly analyze sleep quality, mental well-being, and productivity as predictors</a:t>
            </a:r>
            <a:r>
              <a:rPr lang="en-US" sz="2791" spc="-125">
                <a:solidFill>
                  <a:srgbClr val="FFFFFF"/>
                </a:solidFill>
                <a:latin typeface="TT Interphases"/>
                <a:ea typeface="TT Interphases"/>
                <a:cs typeface="TT Interphases"/>
                <a:sym typeface="TT Interphases"/>
              </a:rPr>
              <a:t> of work stress, providing </a:t>
            </a:r>
            <a:r>
              <a:rPr lang="en-US" b="true" sz="2791" spc="-125">
                <a:solidFill>
                  <a:srgbClr val="FDCA01"/>
                </a:solidFill>
                <a:latin typeface="TT Interphases Bold"/>
                <a:ea typeface="TT Interphases Bold"/>
                <a:cs typeface="TT Interphases Bold"/>
                <a:sym typeface="TT Interphases Bold"/>
              </a:rPr>
              <a:t>more reliable estimates under heteroscedastic conditions.</a:t>
            </a:r>
          </a:p>
          <a:p>
            <a:pPr algn="just">
              <a:lnSpc>
                <a:spcPts val="3070"/>
              </a:lnSpc>
            </a:pPr>
          </a:p>
        </p:txBody>
      </p:sp>
      <p:sp>
        <p:nvSpPr>
          <p:cNvPr name="Freeform 9" id="9"/>
          <p:cNvSpPr/>
          <p:nvPr/>
        </p:nvSpPr>
        <p:spPr>
          <a:xfrm flipH="false" flipV="false" rot="0">
            <a:off x="17259300" y="8896496"/>
            <a:ext cx="1096286" cy="1096286"/>
          </a:xfrm>
          <a:custGeom>
            <a:avLst/>
            <a:gdLst/>
            <a:ahLst/>
            <a:cxnLst/>
            <a:rect r="r" b="b" t="t" l="l"/>
            <a:pathLst>
              <a:path h="1096286" w="1096286">
                <a:moveTo>
                  <a:pt x="0" y="0"/>
                </a:moveTo>
                <a:lnTo>
                  <a:pt x="1096286" y="0"/>
                </a:lnTo>
                <a:lnTo>
                  <a:pt x="1096286" y="1096286"/>
                </a:lnTo>
                <a:lnTo>
                  <a:pt x="0" y="10962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2576436" y="-536643"/>
            <a:ext cx="7038810" cy="6323233"/>
          </a:xfrm>
          <a:custGeom>
            <a:avLst/>
            <a:gdLst/>
            <a:ahLst/>
            <a:cxnLst/>
            <a:rect r="r" b="b" t="t" l="l"/>
            <a:pathLst>
              <a:path h="6323233" w="7038810">
                <a:moveTo>
                  <a:pt x="0" y="0"/>
                </a:moveTo>
                <a:lnTo>
                  <a:pt x="7038811" y="0"/>
                </a:lnTo>
                <a:lnTo>
                  <a:pt x="7038811" y="6323233"/>
                </a:lnTo>
                <a:lnTo>
                  <a:pt x="0" y="6323233"/>
                </a:lnTo>
                <a:lnTo>
                  <a:pt x="0" y="0"/>
                </a:lnTo>
                <a:close/>
              </a:path>
            </a:pathLst>
          </a:custGeom>
          <a:blipFill>
            <a:blip r:embed="rId2"/>
            <a:stretch>
              <a:fillRect l="0" t="0" r="0" b="-387"/>
            </a:stretch>
          </a:blipFill>
        </p:spPr>
      </p:sp>
      <p:sp>
        <p:nvSpPr>
          <p:cNvPr name="Freeform 3" id="3"/>
          <p:cNvSpPr/>
          <p:nvPr/>
        </p:nvSpPr>
        <p:spPr>
          <a:xfrm flipH="false" flipV="false" rot="0">
            <a:off x="-2427129" y="5335823"/>
            <a:ext cx="7038810" cy="6323233"/>
          </a:xfrm>
          <a:custGeom>
            <a:avLst/>
            <a:gdLst/>
            <a:ahLst/>
            <a:cxnLst/>
            <a:rect r="r" b="b" t="t" l="l"/>
            <a:pathLst>
              <a:path h="6323233" w="7038810">
                <a:moveTo>
                  <a:pt x="0" y="0"/>
                </a:moveTo>
                <a:lnTo>
                  <a:pt x="7038811" y="0"/>
                </a:lnTo>
                <a:lnTo>
                  <a:pt x="7038811" y="6323233"/>
                </a:lnTo>
                <a:lnTo>
                  <a:pt x="0" y="6323233"/>
                </a:lnTo>
                <a:lnTo>
                  <a:pt x="0" y="0"/>
                </a:lnTo>
                <a:close/>
              </a:path>
            </a:pathLst>
          </a:custGeom>
          <a:blipFill>
            <a:blip r:embed="rId2"/>
            <a:stretch>
              <a:fillRect l="0" t="0" r="0" b="-387"/>
            </a:stretch>
          </a:blipFill>
        </p:spPr>
      </p:sp>
      <p:sp>
        <p:nvSpPr>
          <p:cNvPr name="TextBox 4" id="4"/>
          <p:cNvSpPr txBox="true"/>
          <p:nvPr/>
        </p:nvSpPr>
        <p:spPr>
          <a:xfrm rot="0">
            <a:off x="1092277" y="3485487"/>
            <a:ext cx="9358497" cy="5585744"/>
          </a:xfrm>
          <a:prstGeom prst="rect">
            <a:avLst/>
          </a:prstGeom>
        </p:spPr>
        <p:txBody>
          <a:bodyPr anchor="t" rtlCol="false" tIns="0" lIns="0" bIns="0" rIns="0">
            <a:spAutoFit/>
          </a:bodyPr>
          <a:lstStyle/>
          <a:p>
            <a:pPr algn="l" marL="722396" indent="-361198" lvl="1">
              <a:lnSpc>
                <a:spcPts val="3680"/>
              </a:lnSpc>
              <a:buFont typeface="Arial"/>
              <a:buChar char="•"/>
            </a:pPr>
            <a:r>
              <a:rPr lang="en-US" sz="3345" spc="-150">
                <a:solidFill>
                  <a:srgbClr val="FFFFFF"/>
                </a:solidFill>
                <a:latin typeface="TT Interphases"/>
                <a:ea typeface="TT Interphases"/>
                <a:cs typeface="TT Interphases"/>
                <a:sym typeface="TT Interphases"/>
              </a:rPr>
              <a:t>Does sleep quality, productivity, and mental wellness significantly affect stress levels among employed and self-employed individuals?</a:t>
            </a:r>
          </a:p>
          <a:p>
            <a:pPr algn="l">
              <a:lnSpc>
                <a:spcPts val="3680"/>
              </a:lnSpc>
            </a:pPr>
          </a:p>
          <a:p>
            <a:pPr algn="l" marL="722396" indent="-361198" lvl="1">
              <a:lnSpc>
                <a:spcPts val="3680"/>
              </a:lnSpc>
              <a:buFont typeface="Arial"/>
              <a:buChar char="•"/>
            </a:pPr>
            <a:r>
              <a:rPr lang="en-US" sz="3345" spc="-150">
                <a:solidFill>
                  <a:srgbClr val="FFFFFF"/>
                </a:solidFill>
                <a:latin typeface="TT Interphases"/>
                <a:ea typeface="TT Interphases"/>
                <a:cs typeface="TT Interphases"/>
                <a:sym typeface="TT Interphases"/>
              </a:rPr>
              <a:t>How do sleep quality, productivity, and mental wellness differ in their relative contributions to stress levels?</a:t>
            </a:r>
          </a:p>
          <a:p>
            <a:pPr algn="l">
              <a:lnSpc>
                <a:spcPts val="3680"/>
              </a:lnSpc>
            </a:pPr>
          </a:p>
          <a:p>
            <a:pPr algn="l" marL="722396" indent="-361198" lvl="1">
              <a:lnSpc>
                <a:spcPts val="3680"/>
              </a:lnSpc>
              <a:buFont typeface="Arial"/>
              <a:buChar char="•"/>
            </a:pPr>
            <a:r>
              <a:rPr lang="en-US" sz="3345" spc="-150">
                <a:solidFill>
                  <a:srgbClr val="FFFFFF"/>
                </a:solidFill>
                <a:latin typeface="TT Interphases"/>
                <a:ea typeface="TT Interphases"/>
                <a:cs typeface="TT Interphases"/>
                <a:sym typeface="TT Interphases"/>
              </a:rPr>
              <a:t>How does the application of GLS improve estimation efficiency compared to OLS under heteroskedasticity?</a:t>
            </a:r>
          </a:p>
          <a:p>
            <a:pPr algn="l">
              <a:lnSpc>
                <a:spcPts val="3680"/>
              </a:lnSpc>
            </a:pPr>
          </a:p>
        </p:txBody>
      </p:sp>
      <p:sp>
        <p:nvSpPr>
          <p:cNvPr name="Freeform 5" id="5"/>
          <p:cNvSpPr/>
          <p:nvPr/>
        </p:nvSpPr>
        <p:spPr>
          <a:xfrm flipH="true" flipV="false" rot="0">
            <a:off x="10046753" y="1402933"/>
            <a:ext cx="8413604" cy="9001319"/>
          </a:xfrm>
          <a:custGeom>
            <a:avLst/>
            <a:gdLst/>
            <a:ahLst/>
            <a:cxnLst/>
            <a:rect r="r" b="b" t="t" l="l"/>
            <a:pathLst>
              <a:path h="9001319" w="8413604">
                <a:moveTo>
                  <a:pt x="8413604" y="0"/>
                </a:moveTo>
                <a:lnTo>
                  <a:pt x="0" y="0"/>
                </a:lnTo>
                <a:lnTo>
                  <a:pt x="0" y="9001318"/>
                </a:lnTo>
                <a:lnTo>
                  <a:pt x="8413604" y="9001318"/>
                </a:lnTo>
                <a:lnTo>
                  <a:pt x="841360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4325882" y="8349502"/>
            <a:ext cx="2227947" cy="2227947"/>
          </a:xfrm>
          <a:custGeom>
            <a:avLst/>
            <a:gdLst/>
            <a:ahLst/>
            <a:cxnLst/>
            <a:rect r="r" b="b" t="t" l="l"/>
            <a:pathLst>
              <a:path h="2227947" w="2227947">
                <a:moveTo>
                  <a:pt x="0" y="0"/>
                </a:moveTo>
                <a:lnTo>
                  <a:pt x="2227947" y="0"/>
                </a:lnTo>
                <a:lnTo>
                  <a:pt x="2227947" y="2227947"/>
                </a:lnTo>
                <a:lnTo>
                  <a:pt x="0" y="22279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587637" y="2163328"/>
            <a:ext cx="8689474" cy="970915"/>
          </a:xfrm>
          <a:prstGeom prst="rect">
            <a:avLst/>
          </a:prstGeom>
        </p:spPr>
        <p:txBody>
          <a:bodyPr anchor="t" rtlCol="false" tIns="0" lIns="0" bIns="0" rIns="0">
            <a:spAutoFit/>
          </a:bodyPr>
          <a:lstStyle/>
          <a:p>
            <a:pPr algn="l">
              <a:lnSpc>
                <a:spcPts val="7369"/>
              </a:lnSpc>
            </a:pPr>
            <a:r>
              <a:rPr lang="en-US" sz="6699" spc="-301">
                <a:solidFill>
                  <a:srgbClr val="FDCA01"/>
                </a:solidFill>
                <a:latin typeface="JA Jayagiri Sans Rough"/>
                <a:ea typeface="JA Jayagiri Sans Rough"/>
                <a:cs typeface="JA Jayagiri Sans Rough"/>
                <a:sym typeface="JA Jayagiri Sans Rough"/>
              </a:rPr>
              <a:t>Research Questions</a:t>
            </a:r>
          </a:p>
        </p:txBody>
      </p:sp>
      <p:sp>
        <p:nvSpPr>
          <p:cNvPr name="Freeform 8" id="8"/>
          <p:cNvSpPr/>
          <p:nvPr/>
        </p:nvSpPr>
        <p:spPr>
          <a:xfrm flipH="false" flipV="false" rot="0">
            <a:off x="7964717" y="462157"/>
            <a:ext cx="1299552" cy="1299552"/>
          </a:xfrm>
          <a:custGeom>
            <a:avLst/>
            <a:gdLst/>
            <a:ahLst/>
            <a:cxnLst/>
            <a:rect r="r" b="b" t="t" l="l"/>
            <a:pathLst>
              <a:path h="1299552" w="1299552">
                <a:moveTo>
                  <a:pt x="0" y="0"/>
                </a:moveTo>
                <a:lnTo>
                  <a:pt x="1299552" y="0"/>
                </a:lnTo>
                <a:lnTo>
                  <a:pt x="1299552" y="1299552"/>
                </a:lnTo>
                <a:lnTo>
                  <a:pt x="0" y="12995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2576436" y="-536643"/>
            <a:ext cx="7038810" cy="6323233"/>
          </a:xfrm>
          <a:custGeom>
            <a:avLst/>
            <a:gdLst/>
            <a:ahLst/>
            <a:cxnLst/>
            <a:rect r="r" b="b" t="t" l="l"/>
            <a:pathLst>
              <a:path h="6323233" w="7038810">
                <a:moveTo>
                  <a:pt x="0" y="0"/>
                </a:moveTo>
                <a:lnTo>
                  <a:pt x="7038811" y="0"/>
                </a:lnTo>
                <a:lnTo>
                  <a:pt x="7038811" y="6323233"/>
                </a:lnTo>
                <a:lnTo>
                  <a:pt x="0" y="6323233"/>
                </a:lnTo>
                <a:lnTo>
                  <a:pt x="0" y="0"/>
                </a:lnTo>
                <a:close/>
              </a:path>
            </a:pathLst>
          </a:custGeom>
          <a:blipFill>
            <a:blip r:embed="rId2"/>
            <a:stretch>
              <a:fillRect l="0" t="0" r="0" b="-387"/>
            </a:stretch>
          </a:blipFill>
        </p:spPr>
      </p:sp>
      <p:sp>
        <p:nvSpPr>
          <p:cNvPr name="Freeform 3" id="3"/>
          <p:cNvSpPr/>
          <p:nvPr/>
        </p:nvSpPr>
        <p:spPr>
          <a:xfrm flipH="false" flipV="false" rot="0">
            <a:off x="-2427129" y="5335823"/>
            <a:ext cx="7038810" cy="6323233"/>
          </a:xfrm>
          <a:custGeom>
            <a:avLst/>
            <a:gdLst/>
            <a:ahLst/>
            <a:cxnLst/>
            <a:rect r="r" b="b" t="t" l="l"/>
            <a:pathLst>
              <a:path h="6323233" w="7038810">
                <a:moveTo>
                  <a:pt x="0" y="0"/>
                </a:moveTo>
                <a:lnTo>
                  <a:pt x="7038811" y="0"/>
                </a:lnTo>
                <a:lnTo>
                  <a:pt x="7038811" y="6323233"/>
                </a:lnTo>
                <a:lnTo>
                  <a:pt x="0" y="6323233"/>
                </a:lnTo>
                <a:lnTo>
                  <a:pt x="0" y="0"/>
                </a:lnTo>
                <a:close/>
              </a:path>
            </a:pathLst>
          </a:custGeom>
          <a:blipFill>
            <a:blip r:embed="rId2"/>
            <a:stretch>
              <a:fillRect l="0" t="0" r="0" b="-387"/>
            </a:stretch>
          </a:blipFill>
        </p:spPr>
      </p:sp>
      <p:sp>
        <p:nvSpPr>
          <p:cNvPr name="Freeform 4" id="4"/>
          <p:cNvSpPr/>
          <p:nvPr/>
        </p:nvSpPr>
        <p:spPr>
          <a:xfrm flipH="true" flipV="false" rot="0">
            <a:off x="15302908" y="6541141"/>
            <a:ext cx="3804187" cy="3912597"/>
          </a:xfrm>
          <a:custGeom>
            <a:avLst/>
            <a:gdLst/>
            <a:ahLst/>
            <a:cxnLst/>
            <a:rect r="r" b="b" t="t" l="l"/>
            <a:pathLst>
              <a:path h="3912597" w="3804187">
                <a:moveTo>
                  <a:pt x="3804187" y="0"/>
                </a:moveTo>
                <a:lnTo>
                  <a:pt x="0" y="0"/>
                </a:lnTo>
                <a:lnTo>
                  <a:pt x="0" y="3912597"/>
                </a:lnTo>
                <a:lnTo>
                  <a:pt x="3804187" y="3912597"/>
                </a:lnTo>
                <a:lnTo>
                  <a:pt x="380418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742053" y="1897071"/>
            <a:ext cx="9918176" cy="1003300"/>
          </a:xfrm>
          <a:prstGeom prst="rect">
            <a:avLst/>
          </a:prstGeom>
        </p:spPr>
        <p:txBody>
          <a:bodyPr anchor="t" rtlCol="false" tIns="0" lIns="0" bIns="0" rIns="0">
            <a:spAutoFit/>
          </a:bodyPr>
          <a:lstStyle/>
          <a:p>
            <a:pPr algn="l">
              <a:lnSpc>
                <a:spcPts val="7699"/>
              </a:lnSpc>
            </a:pPr>
            <a:r>
              <a:rPr lang="en-US" sz="6999" spc="-314">
                <a:solidFill>
                  <a:srgbClr val="FDCA01"/>
                </a:solidFill>
                <a:latin typeface="JA Jayagiri Sans Rough"/>
                <a:ea typeface="JA Jayagiri Sans Rough"/>
                <a:cs typeface="JA Jayagiri Sans Rough"/>
                <a:sym typeface="JA Jayagiri Sans Rough"/>
              </a:rPr>
              <a:t>Dataset</a:t>
            </a:r>
          </a:p>
        </p:txBody>
      </p:sp>
      <p:sp>
        <p:nvSpPr>
          <p:cNvPr name="TextBox 6" id="6"/>
          <p:cNvSpPr txBox="true"/>
          <p:nvPr/>
        </p:nvSpPr>
        <p:spPr>
          <a:xfrm rot="0">
            <a:off x="1742053" y="3106781"/>
            <a:ext cx="13873429" cy="1276350"/>
          </a:xfrm>
          <a:prstGeom prst="rect">
            <a:avLst/>
          </a:prstGeom>
        </p:spPr>
        <p:txBody>
          <a:bodyPr anchor="t" rtlCol="false" tIns="0" lIns="0" bIns="0" rIns="0">
            <a:spAutoFit/>
          </a:bodyPr>
          <a:lstStyle/>
          <a:p>
            <a:pPr algn="just">
              <a:lnSpc>
                <a:spcPts val="3300"/>
              </a:lnSpc>
            </a:pPr>
            <a:r>
              <a:rPr lang="en-US" sz="3000" spc="-135">
                <a:solidFill>
                  <a:srgbClr val="FFFFFF"/>
                </a:solidFill>
                <a:latin typeface="TT Interphases"/>
                <a:ea typeface="TT Interphases"/>
                <a:cs typeface="TT Interphases"/>
                <a:sym typeface="TT Interphases"/>
              </a:rPr>
              <a:t>This dataset captures insights from 400 survey participants. With the growing prevalence of digital devices in our lives, understanding the link between screen time, sleep quality, stress, and productivity is a crucial research area for data science, psychology, and public health.</a:t>
            </a:r>
          </a:p>
        </p:txBody>
      </p:sp>
      <p:sp>
        <p:nvSpPr>
          <p:cNvPr name="Freeform 7" id="7"/>
          <p:cNvSpPr/>
          <p:nvPr/>
        </p:nvSpPr>
        <p:spPr>
          <a:xfrm flipH="false" flipV="false" rot="0">
            <a:off x="15615482" y="672424"/>
            <a:ext cx="2227947" cy="2227947"/>
          </a:xfrm>
          <a:custGeom>
            <a:avLst/>
            <a:gdLst/>
            <a:ahLst/>
            <a:cxnLst/>
            <a:rect r="r" b="b" t="t" l="l"/>
            <a:pathLst>
              <a:path h="2227947" w="2227947">
                <a:moveTo>
                  <a:pt x="0" y="0"/>
                </a:moveTo>
                <a:lnTo>
                  <a:pt x="2227947" y="0"/>
                </a:lnTo>
                <a:lnTo>
                  <a:pt x="2227947" y="2227947"/>
                </a:lnTo>
                <a:lnTo>
                  <a:pt x="0" y="22279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07275" y="6088617"/>
            <a:ext cx="1299552" cy="1299552"/>
          </a:xfrm>
          <a:custGeom>
            <a:avLst/>
            <a:gdLst/>
            <a:ahLst/>
            <a:cxnLst/>
            <a:rect r="r" b="b" t="t" l="l"/>
            <a:pathLst>
              <a:path h="1299552" w="1299552">
                <a:moveTo>
                  <a:pt x="0" y="0"/>
                </a:moveTo>
                <a:lnTo>
                  <a:pt x="1299552" y="0"/>
                </a:lnTo>
                <a:lnTo>
                  <a:pt x="1299552" y="1299552"/>
                </a:lnTo>
                <a:lnTo>
                  <a:pt x="0" y="12995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grpSp>
        <p:nvGrpSpPr>
          <p:cNvPr name="Group 10" id="10"/>
          <p:cNvGrpSpPr/>
          <p:nvPr/>
        </p:nvGrpSpPr>
        <p:grpSpPr>
          <a:xfrm rot="0">
            <a:off x="1927155" y="5977090"/>
            <a:ext cx="1559711" cy="1436102"/>
            <a:chOff x="0" y="0"/>
            <a:chExt cx="2079615" cy="1914803"/>
          </a:xfrm>
        </p:grpSpPr>
        <p:sp>
          <p:nvSpPr>
            <p:cNvPr name="TextBox 11" id="11"/>
            <p:cNvSpPr txBox="true"/>
            <p:nvPr/>
          </p:nvSpPr>
          <p:spPr>
            <a:xfrm rot="0">
              <a:off x="0" y="57150"/>
              <a:ext cx="2079615" cy="1219266"/>
            </a:xfrm>
            <a:prstGeom prst="rect">
              <a:avLst/>
            </a:prstGeom>
          </p:spPr>
          <p:txBody>
            <a:bodyPr anchor="t" rtlCol="false" tIns="0" lIns="0" bIns="0" rIns="0">
              <a:spAutoFit/>
            </a:bodyPr>
            <a:lstStyle/>
            <a:p>
              <a:pPr algn="l">
                <a:lnSpc>
                  <a:spcPts val="6995"/>
                </a:lnSpc>
              </a:pPr>
              <a:r>
                <a:rPr lang="en-US" sz="6359" spc="-286" b="true">
                  <a:solidFill>
                    <a:srgbClr val="FDCA01"/>
                  </a:solidFill>
                  <a:latin typeface="TT Interphases Bold"/>
                  <a:ea typeface="TT Interphases Bold"/>
                  <a:cs typeface="TT Interphases Bold"/>
                  <a:sym typeface="TT Interphases Bold"/>
                </a:rPr>
                <a:t>400</a:t>
              </a:r>
            </a:p>
          </p:txBody>
        </p:sp>
        <p:sp>
          <p:nvSpPr>
            <p:cNvPr name="TextBox 12" id="12"/>
            <p:cNvSpPr txBox="true"/>
            <p:nvPr/>
          </p:nvSpPr>
          <p:spPr>
            <a:xfrm rot="0">
              <a:off x="385614" y="1295466"/>
              <a:ext cx="1308386" cy="619337"/>
            </a:xfrm>
            <a:prstGeom prst="rect">
              <a:avLst/>
            </a:prstGeom>
          </p:spPr>
          <p:txBody>
            <a:bodyPr anchor="t" rtlCol="false" tIns="0" lIns="0" bIns="0" rIns="0">
              <a:spAutoFit/>
            </a:bodyPr>
            <a:lstStyle/>
            <a:p>
              <a:pPr algn="just">
                <a:lnSpc>
                  <a:spcPts val="3519"/>
                </a:lnSpc>
              </a:pPr>
              <a:r>
                <a:rPr lang="en-US" b="true" sz="3199" spc="-143">
                  <a:solidFill>
                    <a:srgbClr val="FFFFFF"/>
                  </a:solidFill>
                  <a:latin typeface="TT Interphases Bold"/>
                  <a:ea typeface="TT Interphases Bold"/>
                  <a:cs typeface="TT Interphases Bold"/>
                  <a:sym typeface="TT Interphases Bold"/>
                </a:rPr>
                <a:t>Rows</a:t>
              </a:r>
            </a:p>
          </p:txBody>
        </p:sp>
      </p:grpSp>
      <p:grpSp>
        <p:nvGrpSpPr>
          <p:cNvPr name="Group 13" id="13"/>
          <p:cNvGrpSpPr/>
          <p:nvPr/>
        </p:nvGrpSpPr>
        <p:grpSpPr>
          <a:xfrm rot="0">
            <a:off x="4951200" y="6040728"/>
            <a:ext cx="1595072" cy="1445376"/>
            <a:chOff x="0" y="0"/>
            <a:chExt cx="2126763" cy="1927168"/>
          </a:xfrm>
        </p:grpSpPr>
        <p:sp>
          <p:nvSpPr>
            <p:cNvPr name="TextBox 14" id="14"/>
            <p:cNvSpPr txBox="true"/>
            <p:nvPr/>
          </p:nvSpPr>
          <p:spPr>
            <a:xfrm rot="0">
              <a:off x="23574" y="57150"/>
              <a:ext cx="2079615" cy="1231631"/>
            </a:xfrm>
            <a:prstGeom prst="rect">
              <a:avLst/>
            </a:prstGeom>
          </p:spPr>
          <p:txBody>
            <a:bodyPr anchor="t" rtlCol="false" tIns="0" lIns="0" bIns="0" rIns="0">
              <a:spAutoFit/>
            </a:bodyPr>
            <a:lstStyle/>
            <a:p>
              <a:pPr algn="ctr">
                <a:lnSpc>
                  <a:spcPts val="6995"/>
                </a:lnSpc>
              </a:pPr>
              <a:r>
                <a:rPr lang="en-US" b="true" sz="6359" spc="-286">
                  <a:solidFill>
                    <a:srgbClr val="FDCA01"/>
                  </a:solidFill>
                  <a:latin typeface="TT Interphases Bold"/>
                  <a:ea typeface="TT Interphases Bold"/>
                  <a:cs typeface="TT Interphases Bold"/>
                  <a:sym typeface="TT Interphases Bold"/>
                </a:rPr>
                <a:t>15</a:t>
              </a:r>
            </a:p>
          </p:txBody>
        </p:sp>
        <p:sp>
          <p:nvSpPr>
            <p:cNvPr name="TextBox 15" id="15"/>
            <p:cNvSpPr txBox="true"/>
            <p:nvPr/>
          </p:nvSpPr>
          <p:spPr>
            <a:xfrm rot="0">
              <a:off x="0" y="1307831"/>
              <a:ext cx="2126763" cy="619337"/>
            </a:xfrm>
            <a:prstGeom prst="rect">
              <a:avLst/>
            </a:prstGeom>
          </p:spPr>
          <p:txBody>
            <a:bodyPr anchor="t" rtlCol="false" tIns="0" lIns="0" bIns="0" rIns="0">
              <a:spAutoFit/>
            </a:bodyPr>
            <a:lstStyle/>
            <a:p>
              <a:pPr algn="l">
                <a:lnSpc>
                  <a:spcPts val="3519"/>
                </a:lnSpc>
              </a:pPr>
              <a:r>
                <a:rPr lang="en-US" sz="3199" spc="-143" b="true">
                  <a:solidFill>
                    <a:srgbClr val="FFFFFF"/>
                  </a:solidFill>
                  <a:latin typeface="TT Interphases Bold"/>
                  <a:ea typeface="TT Interphases Bold"/>
                  <a:cs typeface="TT Interphases Bold"/>
                  <a:sym typeface="TT Interphases Bold"/>
                </a:rPr>
                <a:t>Columns</a:t>
              </a:r>
            </a:p>
          </p:txBody>
        </p:sp>
      </p:grpSp>
      <p:grpSp>
        <p:nvGrpSpPr>
          <p:cNvPr name="Group 16" id="16"/>
          <p:cNvGrpSpPr/>
          <p:nvPr/>
        </p:nvGrpSpPr>
        <p:grpSpPr>
          <a:xfrm rot="0">
            <a:off x="7675481" y="6077184"/>
            <a:ext cx="3775945" cy="1372464"/>
            <a:chOff x="0" y="0"/>
            <a:chExt cx="5034593" cy="1829952"/>
          </a:xfrm>
        </p:grpSpPr>
        <p:sp>
          <p:nvSpPr>
            <p:cNvPr name="TextBox 17" id="17"/>
            <p:cNvSpPr txBox="true"/>
            <p:nvPr/>
          </p:nvSpPr>
          <p:spPr>
            <a:xfrm rot="0">
              <a:off x="1477489" y="57150"/>
              <a:ext cx="2079615" cy="1231631"/>
            </a:xfrm>
            <a:prstGeom prst="rect">
              <a:avLst/>
            </a:prstGeom>
          </p:spPr>
          <p:txBody>
            <a:bodyPr anchor="t" rtlCol="false" tIns="0" lIns="0" bIns="0" rIns="0">
              <a:spAutoFit/>
            </a:bodyPr>
            <a:lstStyle/>
            <a:p>
              <a:pPr algn="ctr">
                <a:lnSpc>
                  <a:spcPts val="6995"/>
                </a:lnSpc>
              </a:pPr>
              <a:r>
                <a:rPr lang="en-US" b="true" sz="6359" spc="-286">
                  <a:solidFill>
                    <a:srgbClr val="FDCA01"/>
                  </a:solidFill>
                  <a:latin typeface="TT Interphases Bold"/>
                  <a:ea typeface="TT Interphases Bold"/>
                  <a:cs typeface="TT Interphases Bold"/>
                  <a:sym typeface="TT Interphases Bold"/>
                </a:rPr>
                <a:t>4</a:t>
              </a:r>
            </a:p>
          </p:txBody>
        </p:sp>
        <p:sp>
          <p:nvSpPr>
            <p:cNvPr name="TextBox 18" id="18"/>
            <p:cNvSpPr txBox="true"/>
            <p:nvPr/>
          </p:nvSpPr>
          <p:spPr>
            <a:xfrm rot="0">
              <a:off x="0" y="1210615"/>
              <a:ext cx="5034593" cy="619337"/>
            </a:xfrm>
            <a:prstGeom prst="rect">
              <a:avLst/>
            </a:prstGeom>
          </p:spPr>
          <p:txBody>
            <a:bodyPr anchor="t" rtlCol="false" tIns="0" lIns="0" bIns="0" rIns="0">
              <a:spAutoFit/>
            </a:bodyPr>
            <a:lstStyle/>
            <a:p>
              <a:pPr algn="ctr">
                <a:lnSpc>
                  <a:spcPts val="3519"/>
                </a:lnSpc>
              </a:pPr>
              <a:r>
                <a:rPr lang="en-US" b="true" sz="3199" spc="-143">
                  <a:solidFill>
                    <a:srgbClr val="FFFFFF"/>
                  </a:solidFill>
                  <a:latin typeface="TT Interphases Bold"/>
                  <a:ea typeface="TT Interphases Bold"/>
                  <a:cs typeface="TT Interphases Bold"/>
                  <a:sym typeface="TT Interphases Bold"/>
                </a:rPr>
                <a:t>Categorical Variables </a:t>
              </a:r>
            </a:p>
          </p:txBody>
        </p:sp>
      </p:grpSp>
      <p:grpSp>
        <p:nvGrpSpPr>
          <p:cNvPr name="Group 19" id="19"/>
          <p:cNvGrpSpPr/>
          <p:nvPr/>
        </p:nvGrpSpPr>
        <p:grpSpPr>
          <a:xfrm rot="0">
            <a:off x="12319897" y="6077184"/>
            <a:ext cx="3775945" cy="1445376"/>
            <a:chOff x="0" y="0"/>
            <a:chExt cx="5034593" cy="1927168"/>
          </a:xfrm>
        </p:grpSpPr>
        <p:sp>
          <p:nvSpPr>
            <p:cNvPr name="TextBox 20" id="20"/>
            <p:cNvSpPr txBox="true"/>
            <p:nvPr/>
          </p:nvSpPr>
          <p:spPr>
            <a:xfrm rot="0">
              <a:off x="1477489" y="57150"/>
              <a:ext cx="2079615" cy="1231631"/>
            </a:xfrm>
            <a:prstGeom prst="rect">
              <a:avLst/>
            </a:prstGeom>
          </p:spPr>
          <p:txBody>
            <a:bodyPr anchor="t" rtlCol="false" tIns="0" lIns="0" bIns="0" rIns="0">
              <a:spAutoFit/>
            </a:bodyPr>
            <a:lstStyle/>
            <a:p>
              <a:pPr algn="ctr">
                <a:lnSpc>
                  <a:spcPts val="6995"/>
                </a:lnSpc>
              </a:pPr>
              <a:r>
                <a:rPr lang="en-US" b="true" sz="6359" spc="-286">
                  <a:solidFill>
                    <a:srgbClr val="FDCA01"/>
                  </a:solidFill>
                  <a:latin typeface="TT Interphases Bold"/>
                  <a:ea typeface="TT Interphases Bold"/>
                  <a:cs typeface="TT Interphases Bold"/>
                  <a:sym typeface="TT Interphases Bold"/>
                </a:rPr>
                <a:t>11</a:t>
              </a:r>
            </a:p>
          </p:txBody>
        </p:sp>
        <p:sp>
          <p:nvSpPr>
            <p:cNvPr name="TextBox 21" id="21"/>
            <p:cNvSpPr txBox="true"/>
            <p:nvPr/>
          </p:nvSpPr>
          <p:spPr>
            <a:xfrm rot="0">
              <a:off x="0" y="1307831"/>
              <a:ext cx="5034593" cy="619337"/>
            </a:xfrm>
            <a:prstGeom prst="rect">
              <a:avLst/>
            </a:prstGeom>
          </p:spPr>
          <p:txBody>
            <a:bodyPr anchor="t" rtlCol="false" tIns="0" lIns="0" bIns="0" rIns="0">
              <a:spAutoFit/>
            </a:bodyPr>
            <a:lstStyle/>
            <a:p>
              <a:pPr algn="ctr">
                <a:lnSpc>
                  <a:spcPts val="3519"/>
                </a:lnSpc>
              </a:pPr>
              <a:r>
                <a:rPr lang="en-US" b="true" sz="3199" spc="-143">
                  <a:solidFill>
                    <a:srgbClr val="FFFFFF"/>
                  </a:solidFill>
                  <a:latin typeface="TT Interphases Bold"/>
                  <a:ea typeface="TT Interphases Bold"/>
                  <a:cs typeface="TT Interphases Bold"/>
                  <a:sym typeface="TT Interphases Bold"/>
                </a:rPr>
                <a:t>Numerical Variables</a:t>
              </a:r>
            </a:p>
          </p:txBody>
        </p:sp>
      </p:grpSp>
      <p:sp>
        <p:nvSpPr>
          <p:cNvPr name="AutoShape 22" id="22"/>
          <p:cNvSpPr/>
          <p:nvPr/>
        </p:nvSpPr>
        <p:spPr>
          <a:xfrm>
            <a:off x="5587268" y="7522560"/>
            <a:ext cx="3948021" cy="88755"/>
          </a:xfrm>
          <a:prstGeom prst="line">
            <a:avLst/>
          </a:prstGeom>
          <a:ln cap="flat" w="38100">
            <a:solidFill>
              <a:srgbClr val="FFFFFF"/>
            </a:solidFill>
            <a:prstDash val="sysDot"/>
            <a:headEnd type="none" len="sm" w="sm"/>
            <a:tailEnd type="none" len="sm" w="sm"/>
          </a:ln>
        </p:spPr>
      </p:sp>
      <p:sp>
        <p:nvSpPr>
          <p:cNvPr name="AutoShape 23" id="23"/>
          <p:cNvSpPr/>
          <p:nvPr/>
        </p:nvSpPr>
        <p:spPr>
          <a:xfrm flipV="true">
            <a:off x="5717699" y="5943081"/>
            <a:ext cx="8490170" cy="57303"/>
          </a:xfrm>
          <a:prstGeom prst="line">
            <a:avLst/>
          </a:prstGeom>
          <a:ln cap="flat" w="38100">
            <a:solidFill>
              <a:srgbClr val="FFFFFF"/>
            </a:solidFill>
            <a:prstDash val="sysDot"/>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824301" y="7156988"/>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2"/>
            <a:stretch>
              <a:fillRect l="0" t="0" r="0" b="-387"/>
            </a:stretch>
          </a:blipFill>
        </p:spPr>
      </p:sp>
      <p:sp>
        <p:nvSpPr>
          <p:cNvPr name="Freeform 3" id="3"/>
          <p:cNvSpPr/>
          <p:nvPr/>
        </p:nvSpPr>
        <p:spPr>
          <a:xfrm flipH="false" flipV="false" rot="0">
            <a:off x="13700970" y="-1338906"/>
            <a:ext cx="7704770" cy="6921490"/>
          </a:xfrm>
          <a:custGeom>
            <a:avLst/>
            <a:gdLst/>
            <a:ahLst/>
            <a:cxnLst/>
            <a:rect r="r" b="b" t="t" l="l"/>
            <a:pathLst>
              <a:path h="6921490" w="7704770">
                <a:moveTo>
                  <a:pt x="0" y="0"/>
                </a:moveTo>
                <a:lnTo>
                  <a:pt x="7704770" y="0"/>
                </a:lnTo>
                <a:lnTo>
                  <a:pt x="7704770" y="6921490"/>
                </a:lnTo>
                <a:lnTo>
                  <a:pt x="0" y="6921490"/>
                </a:lnTo>
                <a:lnTo>
                  <a:pt x="0" y="0"/>
                </a:lnTo>
                <a:close/>
              </a:path>
            </a:pathLst>
          </a:custGeom>
          <a:blipFill>
            <a:blip r:embed="rId2"/>
            <a:stretch>
              <a:fillRect l="0" t="0" r="0" b="-387"/>
            </a:stretch>
          </a:blipFill>
        </p:spPr>
      </p:sp>
      <p:sp>
        <p:nvSpPr>
          <p:cNvPr name="TextBox 4" id="4"/>
          <p:cNvSpPr txBox="true"/>
          <p:nvPr/>
        </p:nvSpPr>
        <p:spPr>
          <a:xfrm rot="0">
            <a:off x="7554733" y="622171"/>
            <a:ext cx="3178535" cy="1003300"/>
          </a:xfrm>
          <a:prstGeom prst="rect">
            <a:avLst/>
          </a:prstGeom>
        </p:spPr>
        <p:txBody>
          <a:bodyPr anchor="t" rtlCol="false" tIns="0" lIns="0" bIns="0" rIns="0">
            <a:spAutoFit/>
          </a:bodyPr>
          <a:lstStyle/>
          <a:p>
            <a:pPr algn="ctr">
              <a:lnSpc>
                <a:spcPts val="7699"/>
              </a:lnSpc>
            </a:pPr>
            <a:r>
              <a:rPr lang="en-US" sz="6999" spc="-314">
                <a:solidFill>
                  <a:srgbClr val="FDCA01"/>
                </a:solidFill>
                <a:latin typeface="JA Jayagiri Sans Rough"/>
                <a:ea typeface="JA Jayagiri Sans Rough"/>
                <a:cs typeface="JA Jayagiri Sans Rough"/>
                <a:sym typeface="JA Jayagiri Sans Rough"/>
              </a:rPr>
              <a:t>Theory</a:t>
            </a:r>
          </a:p>
        </p:txBody>
      </p:sp>
      <p:sp>
        <p:nvSpPr>
          <p:cNvPr name="Freeform 5" id="5"/>
          <p:cNvSpPr/>
          <p:nvPr/>
        </p:nvSpPr>
        <p:spPr>
          <a:xfrm flipH="false" flipV="false" rot="0">
            <a:off x="515907" y="377347"/>
            <a:ext cx="1025585" cy="1025585"/>
          </a:xfrm>
          <a:custGeom>
            <a:avLst/>
            <a:gdLst/>
            <a:ahLst/>
            <a:cxnLst/>
            <a:rect r="r" b="b" t="t" l="l"/>
            <a:pathLst>
              <a:path h="1025585" w="1025585">
                <a:moveTo>
                  <a:pt x="0" y="0"/>
                </a:moveTo>
                <a:lnTo>
                  <a:pt x="1025586" y="0"/>
                </a:lnTo>
                <a:lnTo>
                  <a:pt x="1025586" y="1025586"/>
                </a:lnTo>
                <a:lnTo>
                  <a:pt x="0" y="10255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grpSp>
        <p:nvGrpSpPr>
          <p:cNvPr name="Group 7" id="7"/>
          <p:cNvGrpSpPr/>
          <p:nvPr/>
        </p:nvGrpSpPr>
        <p:grpSpPr>
          <a:xfrm rot="0">
            <a:off x="450883" y="2168152"/>
            <a:ext cx="17492842" cy="7873553"/>
            <a:chOff x="0" y="0"/>
            <a:chExt cx="23323789" cy="10498071"/>
          </a:xfrm>
        </p:grpSpPr>
        <p:sp>
          <p:nvSpPr>
            <p:cNvPr name="AutoShape 8" id="8"/>
            <p:cNvSpPr/>
            <p:nvPr/>
          </p:nvSpPr>
          <p:spPr>
            <a:xfrm flipV="true">
              <a:off x="4509611" y="455271"/>
              <a:ext cx="3710085" cy="0"/>
            </a:xfrm>
            <a:prstGeom prst="line">
              <a:avLst/>
            </a:prstGeom>
            <a:ln cap="flat" w="50800">
              <a:solidFill>
                <a:srgbClr val="FFFFFF"/>
              </a:solidFill>
              <a:prstDash val="solid"/>
              <a:headEnd type="none" len="sm" w="sm"/>
              <a:tailEnd type="arrow" len="sm" w="med"/>
            </a:ln>
          </p:spPr>
        </p:sp>
        <p:sp>
          <p:nvSpPr>
            <p:cNvPr name="AutoShape 9" id="9"/>
            <p:cNvSpPr/>
            <p:nvPr/>
          </p:nvSpPr>
          <p:spPr>
            <a:xfrm>
              <a:off x="14242284" y="532602"/>
              <a:ext cx="1651184" cy="0"/>
            </a:xfrm>
            <a:prstGeom prst="line">
              <a:avLst/>
            </a:prstGeom>
            <a:ln cap="flat" w="50800">
              <a:solidFill>
                <a:srgbClr val="FFFFFF"/>
              </a:solidFill>
              <a:prstDash val="solid"/>
              <a:headEnd type="none" len="sm" w="sm"/>
              <a:tailEnd type="arrow" len="sm" w="med"/>
            </a:ln>
          </p:spPr>
        </p:sp>
        <p:grpSp>
          <p:nvGrpSpPr>
            <p:cNvPr name="Group 10" id="10"/>
            <p:cNvGrpSpPr/>
            <p:nvPr/>
          </p:nvGrpSpPr>
          <p:grpSpPr>
            <a:xfrm rot="0">
              <a:off x="86699" y="988395"/>
              <a:ext cx="7300821" cy="1566302"/>
              <a:chOff x="0" y="0"/>
              <a:chExt cx="2128070" cy="456551"/>
            </a:xfrm>
          </p:grpSpPr>
          <p:sp>
            <p:nvSpPr>
              <p:cNvPr name="Freeform 11" id="11"/>
              <p:cNvSpPr/>
              <p:nvPr/>
            </p:nvSpPr>
            <p:spPr>
              <a:xfrm flipH="false" flipV="false" rot="0">
                <a:off x="0" y="0"/>
                <a:ext cx="2128070" cy="456551"/>
              </a:xfrm>
              <a:custGeom>
                <a:avLst/>
                <a:gdLst/>
                <a:ahLst/>
                <a:cxnLst/>
                <a:rect r="r" b="b" t="t" l="l"/>
                <a:pathLst>
                  <a:path h="456551" w="2128070">
                    <a:moveTo>
                      <a:pt x="72108" y="0"/>
                    </a:moveTo>
                    <a:lnTo>
                      <a:pt x="2055962" y="0"/>
                    </a:lnTo>
                    <a:cubicBezTo>
                      <a:pt x="2075086" y="0"/>
                      <a:pt x="2093427" y="7597"/>
                      <a:pt x="2106950" y="21120"/>
                    </a:cubicBezTo>
                    <a:cubicBezTo>
                      <a:pt x="2120473" y="34643"/>
                      <a:pt x="2128070" y="52984"/>
                      <a:pt x="2128070" y="72108"/>
                    </a:cubicBezTo>
                    <a:lnTo>
                      <a:pt x="2128070" y="384443"/>
                    </a:lnTo>
                    <a:cubicBezTo>
                      <a:pt x="2128070" y="424267"/>
                      <a:pt x="2095786" y="456551"/>
                      <a:pt x="2055962" y="456551"/>
                    </a:cubicBezTo>
                    <a:lnTo>
                      <a:pt x="72108" y="456551"/>
                    </a:lnTo>
                    <a:cubicBezTo>
                      <a:pt x="52984" y="456551"/>
                      <a:pt x="34643" y="448954"/>
                      <a:pt x="21120" y="435431"/>
                    </a:cubicBezTo>
                    <a:cubicBezTo>
                      <a:pt x="7597" y="421909"/>
                      <a:pt x="0" y="403567"/>
                      <a:pt x="0" y="384443"/>
                    </a:cubicBezTo>
                    <a:lnTo>
                      <a:pt x="0" y="72108"/>
                    </a:lnTo>
                    <a:cubicBezTo>
                      <a:pt x="0" y="32284"/>
                      <a:pt x="32284" y="0"/>
                      <a:pt x="72108" y="0"/>
                    </a:cubicBezTo>
                    <a:close/>
                  </a:path>
                </a:pathLst>
              </a:custGeom>
              <a:solidFill>
                <a:srgbClr val="FDCA01"/>
              </a:solidFill>
            </p:spPr>
          </p:sp>
          <p:sp>
            <p:nvSpPr>
              <p:cNvPr name="TextBox 12" id="12"/>
              <p:cNvSpPr txBox="true"/>
              <p:nvPr/>
            </p:nvSpPr>
            <p:spPr>
              <a:xfrm>
                <a:off x="0" y="19050"/>
                <a:ext cx="2128070" cy="437501"/>
              </a:xfrm>
              <a:prstGeom prst="rect">
                <a:avLst/>
              </a:prstGeom>
            </p:spPr>
            <p:txBody>
              <a:bodyPr anchor="ctr" rtlCol="false" tIns="50800" lIns="50800" bIns="50800" rIns="50800"/>
              <a:lstStyle/>
              <a:p>
                <a:pPr algn="ctr">
                  <a:lnSpc>
                    <a:spcPts val="2445"/>
                  </a:lnSpc>
                </a:pPr>
                <a:r>
                  <a:rPr lang="en-US" b="true" sz="2223" spc="-100">
                    <a:solidFill>
                      <a:srgbClr val="051438"/>
                    </a:solidFill>
                    <a:latin typeface="TT Interphases Bold"/>
                    <a:ea typeface="TT Interphases Bold"/>
                    <a:cs typeface="TT Interphases Bold"/>
                    <a:sym typeface="TT Interphases Bold"/>
                  </a:rPr>
                  <a:t>estimates regression coefficients by minimizing the sum of squared residuals between observed and predicted values.</a:t>
                </a:r>
              </a:p>
            </p:txBody>
          </p:sp>
        </p:grpSp>
        <p:sp>
          <p:nvSpPr>
            <p:cNvPr name="TextBox 13" id="13"/>
            <p:cNvSpPr txBox="true"/>
            <p:nvPr/>
          </p:nvSpPr>
          <p:spPr>
            <a:xfrm rot="0">
              <a:off x="2498913" y="28575"/>
              <a:ext cx="1715632" cy="985830"/>
            </a:xfrm>
            <a:prstGeom prst="rect">
              <a:avLst/>
            </a:prstGeom>
          </p:spPr>
          <p:txBody>
            <a:bodyPr anchor="t" rtlCol="false" tIns="0" lIns="0" bIns="0" rIns="0">
              <a:spAutoFit/>
            </a:bodyPr>
            <a:lstStyle/>
            <a:p>
              <a:pPr algn="l">
                <a:lnSpc>
                  <a:spcPts val="5524"/>
                </a:lnSpc>
              </a:pPr>
              <a:r>
                <a:rPr lang="en-US" sz="5022" spc="-225">
                  <a:solidFill>
                    <a:srgbClr val="FFFFFF"/>
                  </a:solidFill>
                  <a:latin typeface="JA Jayagiri Sans Rough"/>
                  <a:ea typeface="JA Jayagiri Sans Rough"/>
                  <a:cs typeface="JA Jayagiri Sans Rough"/>
                  <a:sym typeface="JA Jayagiri Sans Rough"/>
                </a:rPr>
                <a:t>OLS</a:t>
              </a:r>
            </a:p>
          </p:txBody>
        </p:sp>
        <p:sp>
          <p:nvSpPr>
            <p:cNvPr name="TextBox 14" id="14"/>
            <p:cNvSpPr txBox="true"/>
            <p:nvPr/>
          </p:nvSpPr>
          <p:spPr>
            <a:xfrm rot="0">
              <a:off x="2792594" y="5430414"/>
              <a:ext cx="1715632" cy="985830"/>
            </a:xfrm>
            <a:prstGeom prst="rect">
              <a:avLst/>
            </a:prstGeom>
          </p:spPr>
          <p:txBody>
            <a:bodyPr anchor="t" rtlCol="false" tIns="0" lIns="0" bIns="0" rIns="0">
              <a:spAutoFit/>
            </a:bodyPr>
            <a:lstStyle/>
            <a:p>
              <a:pPr algn="l">
                <a:lnSpc>
                  <a:spcPts val="5524"/>
                </a:lnSpc>
              </a:pPr>
              <a:r>
                <a:rPr lang="en-US" sz="5022" spc="-225">
                  <a:solidFill>
                    <a:srgbClr val="FFFFFF"/>
                  </a:solidFill>
                  <a:latin typeface="JA Jayagiri Sans Rough"/>
                  <a:ea typeface="JA Jayagiri Sans Rough"/>
                  <a:cs typeface="JA Jayagiri Sans Rough"/>
                  <a:sym typeface="JA Jayagiri Sans Rough"/>
                </a:rPr>
                <a:t>GLS</a:t>
              </a:r>
            </a:p>
          </p:txBody>
        </p:sp>
        <p:sp>
          <p:nvSpPr>
            <p:cNvPr name="TextBox 15" id="15"/>
            <p:cNvSpPr txBox="true"/>
            <p:nvPr/>
          </p:nvSpPr>
          <p:spPr>
            <a:xfrm rot="0">
              <a:off x="16036169" y="28575"/>
              <a:ext cx="6345949" cy="983565"/>
            </a:xfrm>
            <a:prstGeom prst="rect">
              <a:avLst/>
            </a:prstGeom>
          </p:spPr>
          <p:txBody>
            <a:bodyPr anchor="t" rtlCol="false" tIns="0" lIns="0" bIns="0" rIns="0">
              <a:spAutoFit/>
            </a:bodyPr>
            <a:lstStyle/>
            <a:p>
              <a:pPr algn="ctr">
                <a:lnSpc>
                  <a:spcPts val="5524"/>
                </a:lnSpc>
              </a:pPr>
              <a:r>
                <a:rPr lang="en-US" sz="5022" spc="-225">
                  <a:solidFill>
                    <a:srgbClr val="FFFFFF"/>
                  </a:solidFill>
                  <a:latin typeface="JA Jayagiri Sans Rough"/>
                  <a:ea typeface="JA Jayagiri Sans Rough"/>
                  <a:cs typeface="JA Jayagiri Sans Rough"/>
                  <a:sym typeface="JA Jayagiri Sans Rough"/>
                </a:rPr>
                <a:t>Breusch-Pagan</a:t>
              </a:r>
            </a:p>
          </p:txBody>
        </p:sp>
        <p:sp>
          <p:nvSpPr>
            <p:cNvPr name="TextBox 16" id="16"/>
            <p:cNvSpPr txBox="true"/>
            <p:nvPr/>
          </p:nvSpPr>
          <p:spPr>
            <a:xfrm rot="0">
              <a:off x="16268287" y="5430414"/>
              <a:ext cx="6345949" cy="985830"/>
            </a:xfrm>
            <a:prstGeom prst="rect">
              <a:avLst/>
            </a:prstGeom>
          </p:spPr>
          <p:txBody>
            <a:bodyPr anchor="t" rtlCol="false" tIns="0" lIns="0" bIns="0" rIns="0">
              <a:spAutoFit/>
            </a:bodyPr>
            <a:lstStyle/>
            <a:p>
              <a:pPr algn="l">
                <a:lnSpc>
                  <a:spcPts val="5524"/>
                </a:lnSpc>
              </a:pPr>
              <a:r>
                <a:rPr lang="en-US" sz="5022" spc="-225">
                  <a:solidFill>
                    <a:srgbClr val="FFFFFF"/>
                  </a:solidFill>
                  <a:latin typeface="JA Jayagiri Sans Rough"/>
                  <a:ea typeface="JA Jayagiri Sans Rough"/>
                  <a:cs typeface="JA Jayagiri Sans Rough"/>
                  <a:sym typeface="JA Jayagiri Sans Rough"/>
                </a:rPr>
                <a:t>Durbin-Watson</a:t>
              </a:r>
            </a:p>
          </p:txBody>
        </p:sp>
        <p:sp>
          <p:nvSpPr>
            <p:cNvPr name="TextBox 17" id="17"/>
            <p:cNvSpPr txBox="true"/>
            <p:nvPr/>
          </p:nvSpPr>
          <p:spPr>
            <a:xfrm rot="0">
              <a:off x="8475125" y="147785"/>
              <a:ext cx="5767159" cy="983565"/>
            </a:xfrm>
            <a:prstGeom prst="rect">
              <a:avLst/>
            </a:prstGeom>
          </p:spPr>
          <p:txBody>
            <a:bodyPr anchor="t" rtlCol="false" tIns="0" lIns="0" bIns="0" rIns="0">
              <a:spAutoFit/>
            </a:bodyPr>
            <a:lstStyle/>
            <a:p>
              <a:pPr algn="ctr">
                <a:lnSpc>
                  <a:spcPts val="5524"/>
                </a:lnSpc>
              </a:pPr>
              <a:r>
                <a:rPr lang="en-US" sz="5022" spc="-225">
                  <a:solidFill>
                    <a:srgbClr val="FFFFFF"/>
                  </a:solidFill>
                  <a:latin typeface="JA Jayagiri Sans Rough"/>
                  <a:ea typeface="JA Jayagiri Sans Rough"/>
                  <a:cs typeface="JA Jayagiri Sans Rough"/>
                  <a:sym typeface="JA Jayagiri Sans Rough"/>
                </a:rPr>
                <a:t>Lilliefors Test</a:t>
              </a:r>
            </a:p>
          </p:txBody>
        </p:sp>
        <p:sp>
          <p:nvSpPr>
            <p:cNvPr name="TextBox 18" id="18"/>
            <p:cNvSpPr txBox="true"/>
            <p:nvPr/>
          </p:nvSpPr>
          <p:spPr>
            <a:xfrm rot="0">
              <a:off x="9786415" y="5471974"/>
              <a:ext cx="3523432" cy="985830"/>
            </a:xfrm>
            <a:prstGeom prst="rect">
              <a:avLst/>
            </a:prstGeom>
          </p:spPr>
          <p:txBody>
            <a:bodyPr anchor="t" rtlCol="false" tIns="0" lIns="0" bIns="0" rIns="0">
              <a:spAutoFit/>
            </a:bodyPr>
            <a:lstStyle/>
            <a:p>
              <a:pPr algn="l">
                <a:lnSpc>
                  <a:spcPts val="5524"/>
                </a:lnSpc>
              </a:pPr>
              <a:r>
                <a:rPr lang="en-US" sz="5022" spc="-225">
                  <a:solidFill>
                    <a:srgbClr val="FFFFFF"/>
                  </a:solidFill>
                  <a:latin typeface="JA Jayagiri Sans Rough"/>
                  <a:ea typeface="JA Jayagiri Sans Rough"/>
                  <a:cs typeface="JA Jayagiri Sans Rough"/>
                  <a:sym typeface="JA Jayagiri Sans Rough"/>
                </a:rPr>
                <a:t>VIF Test</a:t>
              </a:r>
            </a:p>
          </p:txBody>
        </p:sp>
        <p:sp>
          <p:nvSpPr>
            <p:cNvPr name="TextBox 19" id="19"/>
            <p:cNvSpPr txBox="true"/>
            <p:nvPr/>
          </p:nvSpPr>
          <p:spPr>
            <a:xfrm rot="0">
              <a:off x="1750084" y="2944406"/>
              <a:ext cx="3213290" cy="552433"/>
            </a:xfrm>
            <a:prstGeom prst="rect">
              <a:avLst/>
            </a:prstGeom>
          </p:spPr>
          <p:txBody>
            <a:bodyPr anchor="t" rtlCol="false" tIns="0" lIns="0" bIns="0" rIns="0">
              <a:spAutoFit/>
            </a:bodyPr>
            <a:lstStyle/>
            <a:p>
              <a:pPr algn="ctr">
                <a:lnSpc>
                  <a:spcPts val="3181"/>
                </a:lnSpc>
                <a:spcBef>
                  <a:spcPct val="0"/>
                </a:spcBef>
              </a:pPr>
              <a:r>
                <a:rPr lang="en-US" b="true" sz="2892" spc="-130">
                  <a:solidFill>
                    <a:srgbClr val="FFFFFF"/>
                  </a:solidFill>
                  <a:latin typeface="TT Interphases Bold"/>
                  <a:ea typeface="TT Interphases Bold"/>
                  <a:cs typeface="TT Interphases Bold"/>
                  <a:sym typeface="TT Interphases Bold"/>
                </a:rPr>
                <a:t> β = ( Xᵀ X )⁻¹ Xᵀy</a:t>
              </a:r>
            </a:p>
          </p:txBody>
        </p:sp>
        <p:grpSp>
          <p:nvGrpSpPr>
            <p:cNvPr name="Group 20" id="20"/>
            <p:cNvGrpSpPr/>
            <p:nvPr/>
          </p:nvGrpSpPr>
          <p:grpSpPr>
            <a:xfrm rot="0">
              <a:off x="7708294" y="1131350"/>
              <a:ext cx="7300821" cy="1566302"/>
              <a:chOff x="0" y="0"/>
              <a:chExt cx="2128070" cy="456551"/>
            </a:xfrm>
          </p:grpSpPr>
          <p:sp>
            <p:nvSpPr>
              <p:cNvPr name="Freeform 21" id="21"/>
              <p:cNvSpPr/>
              <p:nvPr/>
            </p:nvSpPr>
            <p:spPr>
              <a:xfrm flipH="false" flipV="false" rot="0">
                <a:off x="0" y="0"/>
                <a:ext cx="2128070" cy="456551"/>
              </a:xfrm>
              <a:custGeom>
                <a:avLst/>
                <a:gdLst/>
                <a:ahLst/>
                <a:cxnLst/>
                <a:rect r="r" b="b" t="t" l="l"/>
                <a:pathLst>
                  <a:path h="456551" w="2128070">
                    <a:moveTo>
                      <a:pt x="72108" y="0"/>
                    </a:moveTo>
                    <a:lnTo>
                      <a:pt x="2055962" y="0"/>
                    </a:lnTo>
                    <a:cubicBezTo>
                      <a:pt x="2075086" y="0"/>
                      <a:pt x="2093427" y="7597"/>
                      <a:pt x="2106950" y="21120"/>
                    </a:cubicBezTo>
                    <a:cubicBezTo>
                      <a:pt x="2120473" y="34643"/>
                      <a:pt x="2128070" y="52984"/>
                      <a:pt x="2128070" y="72108"/>
                    </a:cubicBezTo>
                    <a:lnTo>
                      <a:pt x="2128070" y="384443"/>
                    </a:lnTo>
                    <a:cubicBezTo>
                      <a:pt x="2128070" y="424267"/>
                      <a:pt x="2095786" y="456551"/>
                      <a:pt x="2055962" y="456551"/>
                    </a:cubicBezTo>
                    <a:lnTo>
                      <a:pt x="72108" y="456551"/>
                    </a:lnTo>
                    <a:cubicBezTo>
                      <a:pt x="52984" y="456551"/>
                      <a:pt x="34643" y="448954"/>
                      <a:pt x="21120" y="435431"/>
                    </a:cubicBezTo>
                    <a:cubicBezTo>
                      <a:pt x="7597" y="421909"/>
                      <a:pt x="0" y="403567"/>
                      <a:pt x="0" y="384443"/>
                    </a:cubicBezTo>
                    <a:lnTo>
                      <a:pt x="0" y="72108"/>
                    </a:lnTo>
                    <a:cubicBezTo>
                      <a:pt x="0" y="32284"/>
                      <a:pt x="32284" y="0"/>
                      <a:pt x="72108" y="0"/>
                    </a:cubicBezTo>
                    <a:close/>
                  </a:path>
                </a:pathLst>
              </a:custGeom>
              <a:solidFill>
                <a:srgbClr val="FDCA01"/>
              </a:solidFill>
            </p:spPr>
          </p:sp>
          <p:sp>
            <p:nvSpPr>
              <p:cNvPr name="TextBox 22" id="22"/>
              <p:cNvSpPr txBox="true"/>
              <p:nvPr/>
            </p:nvSpPr>
            <p:spPr>
              <a:xfrm>
                <a:off x="0" y="19050"/>
                <a:ext cx="2128070" cy="437501"/>
              </a:xfrm>
              <a:prstGeom prst="rect">
                <a:avLst/>
              </a:prstGeom>
            </p:spPr>
            <p:txBody>
              <a:bodyPr anchor="ctr" rtlCol="false" tIns="50800" lIns="50800" bIns="50800" rIns="50800"/>
              <a:lstStyle/>
              <a:p>
                <a:pPr algn="ctr">
                  <a:lnSpc>
                    <a:spcPts val="2445"/>
                  </a:lnSpc>
                </a:pPr>
                <a:r>
                  <a:rPr lang="en-US" b="true" sz="2223" spc="-100">
                    <a:solidFill>
                      <a:srgbClr val="051438"/>
                    </a:solidFill>
                    <a:latin typeface="TT Interphases Bold"/>
                    <a:ea typeface="TT Interphases Bold"/>
                    <a:cs typeface="TT Interphases Bold"/>
                    <a:sym typeface="TT Interphases Bold"/>
                  </a:rPr>
                  <a:t>checks whether data follow a normal distribution with unknown parameters.</a:t>
                </a:r>
              </a:p>
            </p:txBody>
          </p:sp>
        </p:grpSp>
        <p:sp>
          <p:nvSpPr>
            <p:cNvPr name="TextBox 23" id="23"/>
            <p:cNvSpPr txBox="true"/>
            <p:nvPr/>
          </p:nvSpPr>
          <p:spPr>
            <a:xfrm rot="0">
              <a:off x="7708294" y="2883595"/>
              <a:ext cx="7765057" cy="1245537"/>
            </a:xfrm>
            <a:prstGeom prst="rect">
              <a:avLst/>
            </a:prstGeom>
          </p:spPr>
          <p:txBody>
            <a:bodyPr anchor="t" rtlCol="false" tIns="0" lIns="0" bIns="0" rIns="0">
              <a:spAutoFit/>
            </a:bodyPr>
            <a:lstStyle/>
            <a:p>
              <a:pPr algn="l" marL="478831" indent="-239415" lvl="1">
                <a:lnSpc>
                  <a:spcPts val="2439"/>
                </a:lnSpc>
                <a:buFont typeface="Arial"/>
                <a:buChar char="•"/>
              </a:pPr>
              <a:r>
                <a:rPr lang="en-US" b="true" sz="2217" spc="-99">
                  <a:solidFill>
                    <a:srgbClr val="FFFFFF"/>
                  </a:solidFill>
                  <a:latin typeface="TT Interphases Bold"/>
                  <a:ea typeface="TT Interphases Bold"/>
                  <a:cs typeface="TT Interphases Bold"/>
                  <a:sym typeface="TT Interphases Bold"/>
                </a:rPr>
                <a:t>H0: The data follow a normal distribution.</a:t>
              </a:r>
            </a:p>
            <a:p>
              <a:pPr algn="l" marL="478831" indent="-239415" lvl="1">
                <a:lnSpc>
                  <a:spcPts val="2439"/>
                </a:lnSpc>
                <a:buFont typeface="Arial"/>
                <a:buChar char="•"/>
              </a:pPr>
              <a:r>
                <a:rPr lang="en-US" b="true" sz="2217" spc="-99">
                  <a:solidFill>
                    <a:srgbClr val="FFFFFF"/>
                  </a:solidFill>
                  <a:latin typeface="TT Interphases Bold"/>
                  <a:ea typeface="TT Interphases Bold"/>
                  <a:cs typeface="TT Interphases Bold"/>
                  <a:sym typeface="TT Interphases Bold"/>
                </a:rPr>
                <a:t>H1: The data do not follow a normal distribution.</a:t>
              </a:r>
            </a:p>
          </p:txBody>
        </p:sp>
        <p:grpSp>
          <p:nvGrpSpPr>
            <p:cNvPr name="Group 24" id="24"/>
            <p:cNvGrpSpPr/>
            <p:nvPr/>
          </p:nvGrpSpPr>
          <p:grpSpPr>
            <a:xfrm rot="0">
              <a:off x="15558733" y="1012140"/>
              <a:ext cx="7300821" cy="1566302"/>
              <a:chOff x="0" y="0"/>
              <a:chExt cx="2128070" cy="456551"/>
            </a:xfrm>
          </p:grpSpPr>
          <p:sp>
            <p:nvSpPr>
              <p:cNvPr name="Freeform 25" id="25"/>
              <p:cNvSpPr/>
              <p:nvPr/>
            </p:nvSpPr>
            <p:spPr>
              <a:xfrm flipH="false" flipV="false" rot="0">
                <a:off x="0" y="0"/>
                <a:ext cx="2128070" cy="456551"/>
              </a:xfrm>
              <a:custGeom>
                <a:avLst/>
                <a:gdLst/>
                <a:ahLst/>
                <a:cxnLst/>
                <a:rect r="r" b="b" t="t" l="l"/>
                <a:pathLst>
                  <a:path h="456551" w="2128070">
                    <a:moveTo>
                      <a:pt x="72108" y="0"/>
                    </a:moveTo>
                    <a:lnTo>
                      <a:pt x="2055962" y="0"/>
                    </a:lnTo>
                    <a:cubicBezTo>
                      <a:pt x="2075086" y="0"/>
                      <a:pt x="2093427" y="7597"/>
                      <a:pt x="2106950" y="21120"/>
                    </a:cubicBezTo>
                    <a:cubicBezTo>
                      <a:pt x="2120473" y="34643"/>
                      <a:pt x="2128070" y="52984"/>
                      <a:pt x="2128070" y="72108"/>
                    </a:cubicBezTo>
                    <a:lnTo>
                      <a:pt x="2128070" y="384443"/>
                    </a:lnTo>
                    <a:cubicBezTo>
                      <a:pt x="2128070" y="424267"/>
                      <a:pt x="2095786" y="456551"/>
                      <a:pt x="2055962" y="456551"/>
                    </a:cubicBezTo>
                    <a:lnTo>
                      <a:pt x="72108" y="456551"/>
                    </a:lnTo>
                    <a:cubicBezTo>
                      <a:pt x="52984" y="456551"/>
                      <a:pt x="34643" y="448954"/>
                      <a:pt x="21120" y="435431"/>
                    </a:cubicBezTo>
                    <a:cubicBezTo>
                      <a:pt x="7597" y="421909"/>
                      <a:pt x="0" y="403567"/>
                      <a:pt x="0" y="384443"/>
                    </a:cubicBezTo>
                    <a:lnTo>
                      <a:pt x="0" y="72108"/>
                    </a:lnTo>
                    <a:cubicBezTo>
                      <a:pt x="0" y="32284"/>
                      <a:pt x="32284" y="0"/>
                      <a:pt x="72108" y="0"/>
                    </a:cubicBezTo>
                    <a:close/>
                  </a:path>
                </a:pathLst>
              </a:custGeom>
              <a:solidFill>
                <a:srgbClr val="FDCA01"/>
              </a:solidFill>
            </p:spPr>
          </p:sp>
          <p:sp>
            <p:nvSpPr>
              <p:cNvPr name="TextBox 26" id="26"/>
              <p:cNvSpPr txBox="true"/>
              <p:nvPr/>
            </p:nvSpPr>
            <p:spPr>
              <a:xfrm>
                <a:off x="0" y="19050"/>
                <a:ext cx="2128070" cy="437501"/>
              </a:xfrm>
              <a:prstGeom prst="rect">
                <a:avLst/>
              </a:prstGeom>
            </p:spPr>
            <p:txBody>
              <a:bodyPr anchor="ctr" rtlCol="false" tIns="50800" lIns="50800" bIns="50800" rIns="50800"/>
              <a:lstStyle/>
              <a:p>
                <a:pPr algn="ctr">
                  <a:lnSpc>
                    <a:spcPts val="2445"/>
                  </a:lnSpc>
                </a:pPr>
                <a:r>
                  <a:rPr lang="en-US" b="true" sz="2223" spc="-100">
                    <a:solidFill>
                      <a:srgbClr val="051438"/>
                    </a:solidFill>
                    <a:latin typeface="TT Interphases Bold"/>
                    <a:ea typeface="TT Interphases Bold"/>
                    <a:cs typeface="TT Interphases Bold"/>
                    <a:sym typeface="TT Interphases Bold"/>
                  </a:rPr>
                  <a:t>checks whether error variance is constant in a regression model.</a:t>
                </a:r>
              </a:p>
            </p:txBody>
          </p:sp>
        </p:grpSp>
        <p:grpSp>
          <p:nvGrpSpPr>
            <p:cNvPr name="Group 27" id="27"/>
            <p:cNvGrpSpPr/>
            <p:nvPr/>
          </p:nvGrpSpPr>
          <p:grpSpPr>
            <a:xfrm rot="0">
              <a:off x="15790851" y="6457804"/>
              <a:ext cx="7300821" cy="1566302"/>
              <a:chOff x="0" y="0"/>
              <a:chExt cx="2128070" cy="456551"/>
            </a:xfrm>
          </p:grpSpPr>
          <p:sp>
            <p:nvSpPr>
              <p:cNvPr name="Freeform 28" id="28"/>
              <p:cNvSpPr/>
              <p:nvPr/>
            </p:nvSpPr>
            <p:spPr>
              <a:xfrm flipH="false" flipV="false" rot="0">
                <a:off x="0" y="0"/>
                <a:ext cx="2128070" cy="456551"/>
              </a:xfrm>
              <a:custGeom>
                <a:avLst/>
                <a:gdLst/>
                <a:ahLst/>
                <a:cxnLst/>
                <a:rect r="r" b="b" t="t" l="l"/>
                <a:pathLst>
                  <a:path h="456551" w="2128070">
                    <a:moveTo>
                      <a:pt x="72108" y="0"/>
                    </a:moveTo>
                    <a:lnTo>
                      <a:pt x="2055962" y="0"/>
                    </a:lnTo>
                    <a:cubicBezTo>
                      <a:pt x="2075086" y="0"/>
                      <a:pt x="2093427" y="7597"/>
                      <a:pt x="2106950" y="21120"/>
                    </a:cubicBezTo>
                    <a:cubicBezTo>
                      <a:pt x="2120473" y="34643"/>
                      <a:pt x="2128070" y="52984"/>
                      <a:pt x="2128070" y="72108"/>
                    </a:cubicBezTo>
                    <a:lnTo>
                      <a:pt x="2128070" y="384443"/>
                    </a:lnTo>
                    <a:cubicBezTo>
                      <a:pt x="2128070" y="424267"/>
                      <a:pt x="2095786" y="456551"/>
                      <a:pt x="2055962" y="456551"/>
                    </a:cubicBezTo>
                    <a:lnTo>
                      <a:pt x="72108" y="456551"/>
                    </a:lnTo>
                    <a:cubicBezTo>
                      <a:pt x="52984" y="456551"/>
                      <a:pt x="34643" y="448954"/>
                      <a:pt x="21120" y="435431"/>
                    </a:cubicBezTo>
                    <a:cubicBezTo>
                      <a:pt x="7597" y="421909"/>
                      <a:pt x="0" y="403567"/>
                      <a:pt x="0" y="384443"/>
                    </a:cubicBezTo>
                    <a:lnTo>
                      <a:pt x="0" y="72108"/>
                    </a:lnTo>
                    <a:cubicBezTo>
                      <a:pt x="0" y="32284"/>
                      <a:pt x="32284" y="0"/>
                      <a:pt x="72108" y="0"/>
                    </a:cubicBezTo>
                    <a:close/>
                  </a:path>
                </a:pathLst>
              </a:custGeom>
              <a:solidFill>
                <a:srgbClr val="FDCA01"/>
              </a:solidFill>
            </p:spPr>
          </p:sp>
          <p:sp>
            <p:nvSpPr>
              <p:cNvPr name="TextBox 29" id="29"/>
              <p:cNvSpPr txBox="true"/>
              <p:nvPr/>
            </p:nvSpPr>
            <p:spPr>
              <a:xfrm>
                <a:off x="0" y="19050"/>
                <a:ext cx="2128070" cy="437501"/>
              </a:xfrm>
              <a:prstGeom prst="rect">
                <a:avLst/>
              </a:prstGeom>
            </p:spPr>
            <p:txBody>
              <a:bodyPr anchor="ctr" rtlCol="false" tIns="50800" lIns="50800" bIns="50800" rIns="50800"/>
              <a:lstStyle/>
              <a:p>
                <a:pPr algn="ctr">
                  <a:lnSpc>
                    <a:spcPts val="2445"/>
                  </a:lnSpc>
                </a:pPr>
                <a:r>
                  <a:rPr lang="en-US" b="true" sz="2223" spc="-100">
                    <a:solidFill>
                      <a:srgbClr val="051438"/>
                    </a:solidFill>
                    <a:latin typeface="TT Interphases Bold"/>
                    <a:ea typeface="TT Interphases Bold"/>
                    <a:cs typeface="TT Interphases Bold"/>
                    <a:sym typeface="TT Interphases Bold"/>
                  </a:rPr>
                  <a:t>used to detect autocorrelation in the residuals of a regression model.</a:t>
                </a:r>
              </a:p>
            </p:txBody>
          </p:sp>
        </p:grpSp>
        <p:grpSp>
          <p:nvGrpSpPr>
            <p:cNvPr name="Group 30" id="30"/>
            <p:cNvGrpSpPr/>
            <p:nvPr/>
          </p:nvGrpSpPr>
          <p:grpSpPr>
            <a:xfrm rot="0">
              <a:off x="7897721" y="6457804"/>
              <a:ext cx="7300821" cy="1566302"/>
              <a:chOff x="0" y="0"/>
              <a:chExt cx="2128070" cy="456551"/>
            </a:xfrm>
          </p:grpSpPr>
          <p:sp>
            <p:nvSpPr>
              <p:cNvPr name="Freeform 31" id="31"/>
              <p:cNvSpPr/>
              <p:nvPr/>
            </p:nvSpPr>
            <p:spPr>
              <a:xfrm flipH="false" flipV="false" rot="0">
                <a:off x="0" y="0"/>
                <a:ext cx="2128070" cy="456551"/>
              </a:xfrm>
              <a:custGeom>
                <a:avLst/>
                <a:gdLst/>
                <a:ahLst/>
                <a:cxnLst/>
                <a:rect r="r" b="b" t="t" l="l"/>
                <a:pathLst>
                  <a:path h="456551" w="2128070">
                    <a:moveTo>
                      <a:pt x="72108" y="0"/>
                    </a:moveTo>
                    <a:lnTo>
                      <a:pt x="2055962" y="0"/>
                    </a:lnTo>
                    <a:cubicBezTo>
                      <a:pt x="2075086" y="0"/>
                      <a:pt x="2093427" y="7597"/>
                      <a:pt x="2106950" y="21120"/>
                    </a:cubicBezTo>
                    <a:cubicBezTo>
                      <a:pt x="2120473" y="34643"/>
                      <a:pt x="2128070" y="52984"/>
                      <a:pt x="2128070" y="72108"/>
                    </a:cubicBezTo>
                    <a:lnTo>
                      <a:pt x="2128070" y="384443"/>
                    </a:lnTo>
                    <a:cubicBezTo>
                      <a:pt x="2128070" y="424267"/>
                      <a:pt x="2095786" y="456551"/>
                      <a:pt x="2055962" y="456551"/>
                    </a:cubicBezTo>
                    <a:lnTo>
                      <a:pt x="72108" y="456551"/>
                    </a:lnTo>
                    <a:cubicBezTo>
                      <a:pt x="52984" y="456551"/>
                      <a:pt x="34643" y="448954"/>
                      <a:pt x="21120" y="435431"/>
                    </a:cubicBezTo>
                    <a:cubicBezTo>
                      <a:pt x="7597" y="421909"/>
                      <a:pt x="0" y="403567"/>
                      <a:pt x="0" y="384443"/>
                    </a:cubicBezTo>
                    <a:lnTo>
                      <a:pt x="0" y="72108"/>
                    </a:lnTo>
                    <a:cubicBezTo>
                      <a:pt x="0" y="32284"/>
                      <a:pt x="32284" y="0"/>
                      <a:pt x="72108" y="0"/>
                    </a:cubicBezTo>
                    <a:close/>
                  </a:path>
                </a:pathLst>
              </a:custGeom>
              <a:solidFill>
                <a:srgbClr val="FDCA01"/>
              </a:solidFill>
            </p:spPr>
          </p:sp>
          <p:sp>
            <p:nvSpPr>
              <p:cNvPr name="TextBox 32" id="32"/>
              <p:cNvSpPr txBox="true"/>
              <p:nvPr/>
            </p:nvSpPr>
            <p:spPr>
              <a:xfrm>
                <a:off x="0" y="19050"/>
                <a:ext cx="2128070" cy="437501"/>
              </a:xfrm>
              <a:prstGeom prst="rect">
                <a:avLst/>
              </a:prstGeom>
            </p:spPr>
            <p:txBody>
              <a:bodyPr anchor="ctr" rtlCol="false" tIns="50800" lIns="50800" bIns="50800" rIns="50800"/>
              <a:lstStyle/>
              <a:p>
                <a:pPr algn="ctr">
                  <a:lnSpc>
                    <a:spcPts val="2445"/>
                  </a:lnSpc>
                </a:pPr>
                <a:r>
                  <a:rPr lang="en-US" b="true" sz="2223" spc="-100">
                    <a:solidFill>
                      <a:srgbClr val="051438"/>
                    </a:solidFill>
                    <a:latin typeface="TT Interphases Bold"/>
                    <a:ea typeface="TT Interphases Bold"/>
                    <a:cs typeface="TT Interphases Bold"/>
                    <a:sym typeface="TT Interphases Bold"/>
                  </a:rPr>
                  <a:t>assesses the presence of multicollinearity in a regression model.</a:t>
                </a:r>
              </a:p>
            </p:txBody>
          </p:sp>
        </p:grpSp>
        <p:grpSp>
          <p:nvGrpSpPr>
            <p:cNvPr name="Group 33" id="33"/>
            <p:cNvGrpSpPr/>
            <p:nvPr/>
          </p:nvGrpSpPr>
          <p:grpSpPr>
            <a:xfrm rot="0">
              <a:off x="0" y="6416244"/>
              <a:ext cx="7300821" cy="1864634"/>
              <a:chOff x="0" y="0"/>
              <a:chExt cx="2128070" cy="543510"/>
            </a:xfrm>
          </p:grpSpPr>
          <p:sp>
            <p:nvSpPr>
              <p:cNvPr name="Freeform 34" id="34"/>
              <p:cNvSpPr/>
              <p:nvPr/>
            </p:nvSpPr>
            <p:spPr>
              <a:xfrm flipH="false" flipV="false" rot="0">
                <a:off x="0" y="0"/>
                <a:ext cx="2128070" cy="543510"/>
              </a:xfrm>
              <a:custGeom>
                <a:avLst/>
                <a:gdLst/>
                <a:ahLst/>
                <a:cxnLst/>
                <a:rect r="r" b="b" t="t" l="l"/>
                <a:pathLst>
                  <a:path h="543510" w="2128070">
                    <a:moveTo>
                      <a:pt x="72108" y="0"/>
                    </a:moveTo>
                    <a:lnTo>
                      <a:pt x="2055962" y="0"/>
                    </a:lnTo>
                    <a:cubicBezTo>
                      <a:pt x="2075086" y="0"/>
                      <a:pt x="2093427" y="7597"/>
                      <a:pt x="2106950" y="21120"/>
                    </a:cubicBezTo>
                    <a:cubicBezTo>
                      <a:pt x="2120473" y="34643"/>
                      <a:pt x="2128070" y="52984"/>
                      <a:pt x="2128070" y="72108"/>
                    </a:cubicBezTo>
                    <a:lnTo>
                      <a:pt x="2128070" y="471402"/>
                    </a:lnTo>
                    <a:cubicBezTo>
                      <a:pt x="2128070" y="511226"/>
                      <a:pt x="2095786" y="543510"/>
                      <a:pt x="2055962" y="543510"/>
                    </a:cubicBezTo>
                    <a:lnTo>
                      <a:pt x="72108" y="543510"/>
                    </a:lnTo>
                    <a:cubicBezTo>
                      <a:pt x="32284" y="543510"/>
                      <a:pt x="0" y="511226"/>
                      <a:pt x="0" y="471402"/>
                    </a:cubicBezTo>
                    <a:lnTo>
                      <a:pt x="0" y="72108"/>
                    </a:lnTo>
                    <a:cubicBezTo>
                      <a:pt x="0" y="32284"/>
                      <a:pt x="32284" y="0"/>
                      <a:pt x="72108" y="0"/>
                    </a:cubicBezTo>
                    <a:close/>
                  </a:path>
                </a:pathLst>
              </a:custGeom>
              <a:solidFill>
                <a:srgbClr val="FDCA01"/>
              </a:solidFill>
            </p:spPr>
          </p:sp>
          <p:sp>
            <p:nvSpPr>
              <p:cNvPr name="TextBox 35" id="35"/>
              <p:cNvSpPr txBox="true"/>
              <p:nvPr/>
            </p:nvSpPr>
            <p:spPr>
              <a:xfrm>
                <a:off x="0" y="19050"/>
                <a:ext cx="2128070" cy="524460"/>
              </a:xfrm>
              <a:prstGeom prst="rect">
                <a:avLst/>
              </a:prstGeom>
            </p:spPr>
            <p:txBody>
              <a:bodyPr anchor="ctr" rtlCol="false" tIns="50800" lIns="50800" bIns="50800" rIns="50800"/>
              <a:lstStyle/>
              <a:p>
                <a:pPr algn="ctr">
                  <a:lnSpc>
                    <a:spcPts val="2445"/>
                  </a:lnSpc>
                </a:pPr>
                <a:r>
                  <a:rPr lang="en-US" b="true" sz="2223" spc="-100">
                    <a:solidFill>
                      <a:srgbClr val="051438"/>
                    </a:solidFill>
                    <a:latin typeface="TT Interphases Bold"/>
                    <a:ea typeface="TT Interphases Bold"/>
                    <a:cs typeface="TT Interphases Bold"/>
                    <a:sym typeface="TT Interphases Bold"/>
                  </a:rPr>
                  <a:t>regression method that accounts for heteroscedasticity or autocorrelation by allowing a non-constant error variance structure.</a:t>
                </a:r>
              </a:p>
            </p:txBody>
          </p:sp>
        </p:grpSp>
        <p:sp>
          <p:nvSpPr>
            <p:cNvPr name="TextBox 36" id="36"/>
            <p:cNvSpPr txBox="true"/>
            <p:nvPr/>
          </p:nvSpPr>
          <p:spPr>
            <a:xfrm rot="0">
              <a:off x="1077795" y="8710256"/>
              <a:ext cx="4974954" cy="552433"/>
            </a:xfrm>
            <a:prstGeom prst="rect">
              <a:avLst/>
            </a:prstGeom>
          </p:spPr>
          <p:txBody>
            <a:bodyPr anchor="t" rtlCol="false" tIns="0" lIns="0" bIns="0" rIns="0">
              <a:spAutoFit/>
            </a:bodyPr>
            <a:lstStyle/>
            <a:p>
              <a:pPr algn="ctr">
                <a:lnSpc>
                  <a:spcPts val="3181"/>
                </a:lnSpc>
                <a:spcBef>
                  <a:spcPct val="0"/>
                </a:spcBef>
              </a:pPr>
              <a:r>
                <a:rPr lang="en-US" b="true" sz="2892" spc="-130">
                  <a:solidFill>
                    <a:srgbClr val="FFFFFF"/>
                  </a:solidFill>
                  <a:latin typeface="TT Interphases Bold"/>
                  <a:ea typeface="TT Interphases Bold"/>
                  <a:cs typeface="TT Interphases Bold"/>
                  <a:sym typeface="TT Interphases Bold"/>
                </a:rPr>
                <a:t> β = ( Xᵀ V⁻¹X )⁻¹ XᵀV⁻¹y</a:t>
              </a:r>
            </a:p>
          </p:txBody>
        </p:sp>
        <p:sp>
          <p:nvSpPr>
            <p:cNvPr name="TextBox 37" id="37"/>
            <p:cNvSpPr txBox="true"/>
            <p:nvPr/>
          </p:nvSpPr>
          <p:spPr>
            <a:xfrm rot="0">
              <a:off x="15326615" y="2815670"/>
              <a:ext cx="7765057" cy="2063559"/>
            </a:xfrm>
            <a:prstGeom prst="rect">
              <a:avLst/>
            </a:prstGeom>
          </p:spPr>
          <p:txBody>
            <a:bodyPr anchor="t" rtlCol="false" tIns="0" lIns="0" bIns="0" rIns="0">
              <a:spAutoFit/>
            </a:bodyPr>
            <a:lstStyle/>
            <a:p>
              <a:pPr algn="l" marL="478831" indent="-239415" lvl="1">
                <a:lnSpc>
                  <a:spcPts val="2439"/>
                </a:lnSpc>
                <a:buFont typeface="Arial"/>
                <a:buChar char="•"/>
              </a:pPr>
              <a:r>
                <a:rPr lang="en-US" b="true" sz="2217" spc="-99">
                  <a:solidFill>
                    <a:srgbClr val="FFFFFF"/>
                  </a:solidFill>
                  <a:latin typeface="TT Interphases Bold"/>
                  <a:ea typeface="TT Interphases Bold"/>
                  <a:cs typeface="TT Interphases Bold"/>
                  <a:sym typeface="TT Interphases Bold"/>
                </a:rPr>
                <a:t>H0: The variance of the regression errors is constant (homoscedasticity).</a:t>
              </a:r>
            </a:p>
            <a:p>
              <a:pPr algn="l" marL="478831" indent="-239415" lvl="1">
                <a:lnSpc>
                  <a:spcPts val="2439"/>
                </a:lnSpc>
                <a:buFont typeface="Arial"/>
                <a:buChar char="•"/>
              </a:pPr>
              <a:r>
                <a:rPr lang="en-US" b="true" sz="2217" spc="-99">
                  <a:solidFill>
                    <a:srgbClr val="FFFFFF"/>
                  </a:solidFill>
                  <a:latin typeface="TT Interphases Bold"/>
                  <a:ea typeface="TT Interphases Bold"/>
                  <a:cs typeface="TT Interphases Bold"/>
                  <a:sym typeface="TT Interphases Bold"/>
                </a:rPr>
                <a:t>H1: The variance of the regression errors is not constant (heteroscedasticity).</a:t>
              </a:r>
            </a:p>
            <a:p>
              <a:pPr algn="l">
                <a:lnSpc>
                  <a:spcPts val="2439"/>
                </a:lnSpc>
              </a:pPr>
            </a:p>
          </p:txBody>
        </p:sp>
        <p:sp>
          <p:nvSpPr>
            <p:cNvPr name="TextBox 38" id="38"/>
            <p:cNvSpPr txBox="true"/>
            <p:nvPr/>
          </p:nvSpPr>
          <p:spPr>
            <a:xfrm rot="0">
              <a:off x="15558733" y="8434512"/>
              <a:ext cx="7765057" cy="2063559"/>
            </a:xfrm>
            <a:prstGeom prst="rect">
              <a:avLst/>
            </a:prstGeom>
          </p:spPr>
          <p:txBody>
            <a:bodyPr anchor="t" rtlCol="false" tIns="0" lIns="0" bIns="0" rIns="0">
              <a:spAutoFit/>
            </a:bodyPr>
            <a:lstStyle/>
            <a:p>
              <a:pPr algn="l" marL="478831" indent="-239415" lvl="1">
                <a:lnSpc>
                  <a:spcPts val="2439"/>
                </a:lnSpc>
                <a:buFont typeface="Arial"/>
                <a:buChar char="•"/>
              </a:pPr>
              <a:r>
                <a:rPr lang="en-US" b="true" sz="2217" spc="-99">
                  <a:solidFill>
                    <a:srgbClr val="FFFFFF"/>
                  </a:solidFill>
                  <a:latin typeface="TT Interphases Bold"/>
                  <a:ea typeface="TT Interphases Bold"/>
                  <a:cs typeface="TT Interphases Bold"/>
                  <a:sym typeface="TT Interphases Bold"/>
                </a:rPr>
                <a:t>H0: There is no first-order autocorrelation in the regression residuals.</a:t>
              </a:r>
            </a:p>
            <a:p>
              <a:pPr algn="l" marL="478831" indent="-239415" lvl="1">
                <a:lnSpc>
                  <a:spcPts val="2439"/>
                </a:lnSpc>
                <a:buFont typeface="Arial"/>
                <a:buChar char="•"/>
              </a:pPr>
              <a:r>
                <a:rPr lang="en-US" b="true" sz="2217" spc="-99">
                  <a:solidFill>
                    <a:srgbClr val="FFFFFF"/>
                  </a:solidFill>
                  <a:latin typeface="TT Interphases Bold"/>
                  <a:ea typeface="TT Interphases Bold"/>
                  <a:cs typeface="TT Interphases Bold"/>
                  <a:sym typeface="TT Interphases Bold"/>
                </a:rPr>
                <a:t>H1: There is first-order autocorrelation in the regression residuals.</a:t>
              </a:r>
            </a:p>
            <a:p>
              <a:pPr algn="l">
                <a:lnSpc>
                  <a:spcPts val="2439"/>
                </a:lnSpc>
              </a:pPr>
            </a:p>
          </p:txBody>
        </p:sp>
        <p:sp>
          <p:nvSpPr>
            <p:cNvPr name="TextBox 39" id="39"/>
            <p:cNvSpPr txBox="true"/>
            <p:nvPr/>
          </p:nvSpPr>
          <p:spPr>
            <a:xfrm rot="0">
              <a:off x="8219695" y="8314502"/>
              <a:ext cx="7064228" cy="836527"/>
            </a:xfrm>
            <a:prstGeom prst="rect">
              <a:avLst/>
            </a:prstGeom>
          </p:spPr>
          <p:txBody>
            <a:bodyPr anchor="t" rtlCol="false" tIns="0" lIns="0" bIns="0" rIns="0">
              <a:spAutoFit/>
            </a:bodyPr>
            <a:lstStyle/>
            <a:p>
              <a:pPr algn="l">
                <a:lnSpc>
                  <a:spcPts val="2439"/>
                </a:lnSpc>
              </a:pPr>
              <a:r>
                <a:rPr lang="en-US" sz="2217" spc="-99" b="true">
                  <a:solidFill>
                    <a:srgbClr val="FFFFFF"/>
                  </a:solidFill>
                  <a:latin typeface="TT Interphases Bold"/>
                  <a:ea typeface="TT Interphases Bold"/>
                  <a:cs typeface="TT Interphases Bold"/>
                  <a:sym typeface="TT Interphases Bold"/>
                </a:rPr>
                <a:t>VIF &gt; 10 indicates serious multicollinearity among explanatory variables.</a:t>
              </a:r>
            </a:p>
          </p:txBody>
        </p:sp>
        <p:sp>
          <p:nvSpPr>
            <p:cNvPr name="AutoShape 40" id="40"/>
            <p:cNvSpPr/>
            <p:nvPr/>
          </p:nvSpPr>
          <p:spPr>
            <a:xfrm>
              <a:off x="19183743" y="4511017"/>
              <a:ext cx="0" cy="890822"/>
            </a:xfrm>
            <a:prstGeom prst="line">
              <a:avLst/>
            </a:prstGeom>
            <a:ln cap="flat" w="50800">
              <a:solidFill>
                <a:srgbClr val="FFFFFF"/>
              </a:solidFill>
              <a:prstDash val="solid"/>
              <a:headEnd type="none" len="sm" w="sm"/>
              <a:tailEnd type="arrow" len="sm" w="med"/>
            </a:ln>
          </p:spPr>
        </p:sp>
        <p:sp>
          <p:nvSpPr>
            <p:cNvPr name="AutoShape 41" id="41"/>
            <p:cNvSpPr/>
            <p:nvPr/>
          </p:nvSpPr>
          <p:spPr>
            <a:xfrm flipH="true">
              <a:off x="13570957" y="5934441"/>
              <a:ext cx="2465212" cy="16160"/>
            </a:xfrm>
            <a:prstGeom prst="line">
              <a:avLst/>
            </a:prstGeom>
            <a:ln cap="flat" w="50800">
              <a:solidFill>
                <a:srgbClr val="FFFFFF"/>
              </a:solidFill>
              <a:prstDash val="solid"/>
              <a:headEnd type="none" len="sm" w="sm"/>
              <a:tailEnd type="arrow" len="sm" w="med"/>
            </a:ln>
          </p:spPr>
        </p:sp>
        <p:sp>
          <p:nvSpPr>
            <p:cNvPr name="AutoShape 42" id="42"/>
            <p:cNvSpPr/>
            <p:nvPr/>
          </p:nvSpPr>
          <p:spPr>
            <a:xfrm flipH="true" flipV="true">
              <a:off x="4658483" y="5950601"/>
              <a:ext cx="4899166" cy="25399"/>
            </a:xfrm>
            <a:prstGeom prst="line">
              <a:avLst/>
            </a:prstGeom>
            <a:ln cap="flat" w="50800">
              <a:solidFill>
                <a:srgbClr val="FFFFFF"/>
              </a:solidFill>
              <a:prstDash val="solid"/>
              <a:headEnd type="none" len="sm" w="sm"/>
              <a:tailEnd type="arrow" len="sm" w="med"/>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824301" y="7156988"/>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2"/>
            <a:stretch>
              <a:fillRect l="0" t="0" r="0" b="-387"/>
            </a:stretch>
          </a:blipFill>
        </p:spPr>
      </p:sp>
      <p:sp>
        <p:nvSpPr>
          <p:cNvPr name="Freeform 3" id="3"/>
          <p:cNvSpPr/>
          <p:nvPr/>
        </p:nvSpPr>
        <p:spPr>
          <a:xfrm flipH="false" flipV="false" rot="0">
            <a:off x="13739895" y="-2840311"/>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2"/>
            <a:stretch>
              <a:fillRect l="0" t="0" r="0" b="-387"/>
            </a:stretch>
          </a:blipFill>
        </p:spPr>
      </p:sp>
      <p:sp>
        <p:nvSpPr>
          <p:cNvPr name="Freeform 4" id="4"/>
          <p:cNvSpPr/>
          <p:nvPr/>
        </p:nvSpPr>
        <p:spPr>
          <a:xfrm flipH="false" flipV="false" rot="0">
            <a:off x="15244589" y="802875"/>
            <a:ext cx="2227947" cy="2227947"/>
          </a:xfrm>
          <a:custGeom>
            <a:avLst/>
            <a:gdLst/>
            <a:ahLst/>
            <a:cxnLst/>
            <a:rect r="r" b="b" t="t" l="l"/>
            <a:pathLst>
              <a:path h="2227947" w="2227947">
                <a:moveTo>
                  <a:pt x="0" y="0"/>
                </a:moveTo>
                <a:lnTo>
                  <a:pt x="2227947" y="0"/>
                </a:lnTo>
                <a:lnTo>
                  <a:pt x="2227947" y="2227947"/>
                </a:lnTo>
                <a:lnTo>
                  <a:pt x="0" y="22279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00648" y="508361"/>
            <a:ext cx="728052" cy="728052"/>
          </a:xfrm>
          <a:custGeom>
            <a:avLst/>
            <a:gdLst/>
            <a:ahLst/>
            <a:cxnLst/>
            <a:rect r="r" b="b" t="t" l="l"/>
            <a:pathLst>
              <a:path h="728052" w="728052">
                <a:moveTo>
                  <a:pt x="0" y="0"/>
                </a:moveTo>
                <a:lnTo>
                  <a:pt x="728052" y="0"/>
                </a:lnTo>
                <a:lnTo>
                  <a:pt x="728052" y="728052"/>
                </a:lnTo>
                <a:lnTo>
                  <a:pt x="0" y="7280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Object 6" id="6"/>
          <p:cNvGraphicFramePr/>
          <p:nvPr/>
        </p:nvGraphicFramePr>
        <p:xfrm>
          <a:off x="1028700" y="2652243"/>
          <a:ext cx="7715250" cy="8229600"/>
        </p:xfrm>
        <a:graphic>
          <a:graphicData uri="http://schemas.openxmlformats.org/presentationml/2006/ole">
            <p:oleObj imgW="9359900" imgH="98679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7" id="7"/>
          <p:cNvSpPr txBox="true"/>
          <p:nvPr/>
        </p:nvSpPr>
        <p:spPr>
          <a:xfrm rot="0">
            <a:off x="1028700" y="1615520"/>
            <a:ext cx="11743702" cy="865273"/>
          </a:xfrm>
          <a:prstGeom prst="rect">
            <a:avLst/>
          </a:prstGeom>
        </p:spPr>
        <p:txBody>
          <a:bodyPr anchor="t" rtlCol="false" tIns="0" lIns="0" bIns="0" rIns="0">
            <a:spAutoFit/>
          </a:bodyPr>
          <a:lstStyle/>
          <a:p>
            <a:pPr algn="l">
              <a:lnSpc>
                <a:spcPts val="6559"/>
              </a:lnSpc>
            </a:pPr>
            <a:r>
              <a:rPr lang="en-US" sz="5963" spc="-268">
                <a:solidFill>
                  <a:srgbClr val="FDCA01"/>
                </a:solidFill>
                <a:latin typeface="JA Jayagiri Sans Rough"/>
                <a:ea typeface="JA Jayagiri Sans Rough"/>
                <a:cs typeface="JA Jayagiri Sans Rough"/>
                <a:sym typeface="JA Jayagiri Sans Rough"/>
              </a:rPr>
              <a:t>Ordinary Least Square (OLS)</a:t>
            </a:r>
          </a:p>
        </p:txBody>
      </p:sp>
      <p:sp>
        <p:nvSpPr>
          <p:cNvPr name="TextBox 8" id="8"/>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sp>
        <p:nvSpPr>
          <p:cNvPr name="TextBox 9" id="9"/>
          <p:cNvSpPr txBox="true"/>
          <p:nvPr/>
        </p:nvSpPr>
        <p:spPr>
          <a:xfrm rot="0">
            <a:off x="10243528" y="3814702"/>
            <a:ext cx="6992734" cy="4730794"/>
          </a:xfrm>
          <a:prstGeom prst="rect">
            <a:avLst/>
          </a:prstGeom>
        </p:spPr>
        <p:txBody>
          <a:bodyPr anchor="t" rtlCol="false" tIns="0" lIns="0" bIns="0" rIns="0">
            <a:spAutoFit/>
          </a:bodyPr>
          <a:lstStyle/>
          <a:p>
            <a:pPr algn="just">
              <a:lnSpc>
                <a:spcPts val="3454"/>
              </a:lnSpc>
            </a:pPr>
            <a:r>
              <a:rPr lang="en-US" sz="3140" spc="-141">
                <a:solidFill>
                  <a:srgbClr val="FFFFFF"/>
                </a:solidFill>
                <a:latin typeface="TT Interphases"/>
                <a:ea typeface="TT Interphases"/>
                <a:cs typeface="TT Interphases"/>
                <a:sym typeface="TT Interphases"/>
              </a:rPr>
              <a:t>At the exploratory stage, all independent variables were included in a </a:t>
            </a:r>
            <a:r>
              <a:rPr lang="en-US" b="true" sz="3140" spc="-141">
                <a:solidFill>
                  <a:srgbClr val="FDC830"/>
                </a:solidFill>
                <a:latin typeface="TT Interphases Bold"/>
                <a:ea typeface="TT Interphases Bold"/>
                <a:cs typeface="TT Interphases Bold"/>
                <a:sym typeface="TT Interphases Bold"/>
              </a:rPr>
              <a:t>multiple linear regression </a:t>
            </a:r>
            <a:r>
              <a:rPr lang="en-US" sz="3140" spc="-141">
                <a:solidFill>
                  <a:srgbClr val="FFFFFF"/>
                </a:solidFill>
                <a:latin typeface="TT Interphases"/>
                <a:ea typeface="TT Interphases"/>
                <a:cs typeface="TT Interphases"/>
                <a:sym typeface="TT Interphases"/>
              </a:rPr>
              <a:t>model to explain </a:t>
            </a:r>
            <a:r>
              <a:rPr lang="en-US" b="true" sz="3140" spc="-141">
                <a:solidFill>
                  <a:srgbClr val="FDC830"/>
                </a:solidFill>
                <a:latin typeface="TT Interphases Bold"/>
                <a:ea typeface="TT Interphases Bold"/>
                <a:cs typeface="TT Interphases Bold"/>
                <a:sym typeface="TT Interphases Bold"/>
              </a:rPr>
              <a:t>stress level</a:t>
            </a:r>
            <a:r>
              <a:rPr lang="en-US" sz="3140" spc="-141">
                <a:solidFill>
                  <a:srgbClr val="FFFFFF"/>
                </a:solidFill>
                <a:latin typeface="TT Interphases"/>
                <a:ea typeface="TT Interphases"/>
                <a:cs typeface="TT Interphases"/>
                <a:sym typeface="TT Interphases"/>
              </a:rPr>
              <a:t>.</a:t>
            </a:r>
          </a:p>
          <a:p>
            <a:pPr algn="just">
              <a:lnSpc>
                <a:spcPts val="3454"/>
              </a:lnSpc>
            </a:pPr>
            <a:r>
              <a:rPr lang="en-US" sz="3140" spc="-141">
                <a:solidFill>
                  <a:srgbClr val="FFFFFF"/>
                </a:solidFill>
                <a:latin typeface="TT Interphases"/>
                <a:ea typeface="TT Interphases"/>
                <a:cs typeface="TT Interphases"/>
                <a:sym typeface="TT Interphases"/>
              </a:rPr>
              <a:t> </a:t>
            </a:r>
          </a:p>
          <a:p>
            <a:pPr algn="just">
              <a:lnSpc>
                <a:spcPts val="3454"/>
              </a:lnSpc>
            </a:pPr>
            <a:r>
              <a:rPr lang="en-US" sz="3140" spc="-141">
                <a:solidFill>
                  <a:srgbClr val="FFFFFF"/>
                </a:solidFill>
                <a:latin typeface="TT Interphases"/>
                <a:ea typeface="TT Interphases"/>
                <a:cs typeface="TT Interphases"/>
                <a:sym typeface="TT Interphases"/>
              </a:rPr>
              <a:t>The initial model achieved </a:t>
            </a:r>
            <a:r>
              <a:rPr lang="en-US" b="true" sz="3140" spc="-141">
                <a:solidFill>
                  <a:srgbClr val="FDC830"/>
                </a:solidFill>
                <a:latin typeface="TT Interphases Bold"/>
                <a:ea typeface="TT Interphases Bold"/>
                <a:cs typeface="TT Interphases Bold"/>
                <a:sym typeface="TT Interphases Bold"/>
              </a:rPr>
              <a:t>R² = 85.92%</a:t>
            </a:r>
            <a:r>
              <a:rPr lang="en-US" sz="3140" spc="-141">
                <a:solidFill>
                  <a:srgbClr val="FFFFFF"/>
                </a:solidFill>
                <a:latin typeface="TT Interphases"/>
                <a:ea typeface="TT Interphases"/>
                <a:cs typeface="TT Interphases"/>
                <a:sym typeface="TT Interphases"/>
              </a:rPr>
              <a:t>, indicating strong explanatory power.</a:t>
            </a:r>
          </a:p>
          <a:p>
            <a:pPr algn="just">
              <a:lnSpc>
                <a:spcPts val="3454"/>
              </a:lnSpc>
            </a:pPr>
          </a:p>
          <a:p>
            <a:pPr algn="just">
              <a:lnSpc>
                <a:spcPts val="3454"/>
              </a:lnSpc>
              <a:spcBef>
                <a:spcPct val="0"/>
              </a:spcBef>
            </a:pPr>
            <a:r>
              <a:rPr lang="en-US" sz="3140" spc="-141">
                <a:solidFill>
                  <a:srgbClr val="FFFFFF"/>
                </a:solidFill>
                <a:latin typeface="TT Interphases"/>
                <a:ea typeface="TT Interphases"/>
                <a:cs typeface="TT Interphases"/>
                <a:sym typeface="TT Interphases"/>
              </a:rPr>
              <a:t>However, to avoid </a:t>
            </a:r>
            <a:r>
              <a:rPr lang="en-US" b="true" sz="3140" spc="-141">
                <a:solidFill>
                  <a:srgbClr val="FDC830"/>
                </a:solidFill>
                <a:latin typeface="TT Interphases Bold"/>
                <a:ea typeface="TT Interphases Bold"/>
                <a:cs typeface="TT Interphases Bold"/>
                <a:sym typeface="TT Interphases Bold"/>
              </a:rPr>
              <a:t>model complexity</a:t>
            </a:r>
            <a:r>
              <a:rPr lang="en-US" sz="3140" spc="-141">
                <a:solidFill>
                  <a:srgbClr val="FFFFFF"/>
                </a:solidFill>
                <a:latin typeface="TT Interphases"/>
                <a:ea typeface="TT Interphases"/>
                <a:cs typeface="TT Interphases"/>
                <a:sym typeface="TT Interphases"/>
              </a:rPr>
              <a:t> and improve interpretability, </a:t>
            </a:r>
            <a:r>
              <a:rPr lang="en-US" b="true" sz="3140" spc="-141">
                <a:solidFill>
                  <a:srgbClr val="FDC830"/>
                </a:solidFill>
                <a:latin typeface="TT Interphases Bold"/>
                <a:ea typeface="TT Interphases Bold"/>
                <a:cs typeface="TT Interphases Bold"/>
                <a:sym typeface="TT Interphases Bold"/>
              </a:rPr>
              <a:t>backward elimination</a:t>
            </a:r>
            <a:r>
              <a:rPr lang="en-US" sz="3140" spc="-141">
                <a:solidFill>
                  <a:srgbClr val="FFFFFF"/>
                </a:solidFill>
                <a:latin typeface="TT Interphases"/>
                <a:ea typeface="TT Interphases"/>
                <a:cs typeface="TT Interphases"/>
                <a:sym typeface="TT Interphases"/>
              </a:rPr>
              <a:t> was applied for variable selection.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824301" y="7156988"/>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3"/>
            <a:stretch>
              <a:fillRect l="0" t="0" r="0" b="-387"/>
            </a:stretch>
          </a:blipFill>
        </p:spPr>
      </p:sp>
      <p:sp>
        <p:nvSpPr>
          <p:cNvPr name="Freeform 3" id="3"/>
          <p:cNvSpPr/>
          <p:nvPr/>
        </p:nvSpPr>
        <p:spPr>
          <a:xfrm flipH="false" flipV="false" rot="0">
            <a:off x="13739895" y="-2840311"/>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3"/>
            <a:stretch>
              <a:fillRect l="0" t="0" r="0" b="-387"/>
            </a:stretch>
          </a:blipFill>
        </p:spPr>
      </p:sp>
      <p:sp>
        <p:nvSpPr>
          <p:cNvPr name="Freeform 4" id="4"/>
          <p:cNvSpPr/>
          <p:nvPr/>
        </p:nvSpPr>
        <p:spPr>
          <a:xfrm flipH="false" flipV="false" rot="0">
            <a:off x="15244589" y="802875"/>
            <a:ext cx="2227947" cy="2227947"/>
          </a:xfrm>
          <a:custGeom>
            <a:avLst/>
            <a:gdLst/>
            <a:ahLst/>
            <a:cxnLst/>
            <a:rect r="r" b="b" t="t" l="l"/>
            <a:pathLst>
              <a:path h="2227947" w="2227947">
                <a:moveTo>
                  <a:pt x="0" y="0"/>
                </a:moveTo>
                <a:lnTo>
                  <a:pt x="2227947" y="0"/>
                </a:lnTo>
                <a:lnTo>
                  <a:pt x="2227947" y="2227947"/>
                </a:lnTo>
                <a:lnTo>
                  <a:pt x="0" y="22279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00648" y="508361"/>
            <a:ext cx="728052" cy="728052"/>
          </a:xfrm>
          <a:custGeom>
            <a:avLst/>
            <a:gdLst/>
            <a:ahLst/>
            <a:cxnLst/>
            <a:rect r="r" b="b" t="t" l="l"/>
            <a:pathLst>
              <a:path h="728052" w="728052">
                <a:moveTo>
                  <a:pt x="0" y="0"/>
                </a:moveTo>
                <a:lnTo>
                  <a:pt x="728052" y="0"/>
                </a:lnTo>
                <a:lnTo>
                  <a:pt x="728052" y="728052"/>
                </a:lnTo>
                <a:lnTo>
                  <a:pt x="0" y="7280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28700" y="3482922"/>
            <a:ext cx="9907578" cy="687170"/>
          </a:xfrm>
          <a:custGeom>
            <a:avLst/>
            <a:gdLst/>
            <a:ahLst/>
            <a:cxnLst/>
            <a:rect r="r" b="b" t="t" l="l"/>
            <a:pathLst>
              <a:path h="687170" w="9907578">
                <a:moveTo>
                  <a:pt x="0" y="0"/>
                </a:moveTo>
                <a:lnTo>
                  <a:pt x="9907578" y="0"/>
                </a:lnTo>
                <a:lnTo>
                  <a:pt x="9907578" y="687169"/>
                </a:lnTo>
                <a:lnTo>
                  <a:pt x="0" y="687169"/>
                </a:lnTo>
                <a:lnTo>
                  <a:pt x="0" y="0"/>
                </a:lnTo>
                <a:close/>
              </a:path>
            </a:pathLst>
          </a:custGeom>
          <a:blipFill>
            <a:blip r:embed="rId6"/>
            <a:stretch>
              <a:fillRect l="0" t="0" r="-1545" b="-873611"/>
            </a:stretch>
          </a:blipFill>
        </p:spPr>
      </p:sp>
      <p:graphicFrame>
        <p:nvGraphicFramePr>
          <p:cNvPr name="Object 7" id="7"/>
          <p:cNvGraphicFramePr/>
          <p:nvPr/>
        </p:nvGraphicFramePr>
        <p:xfrm>
          <a:off x="1028700" y="4170091"/>
          <a:ext cx="9429750" cy="5657850"/>
        </p:xfrm>
        <a:graphic>
          <a:graphicData uri="http://schemas.openxmlformats.org/presentationml/2006/ole">
            <p:oleObj imgW="11315700" imgH="75438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8" id="8"/>
          <p:cNvSpPr txBox="true"/>
          <p:nvPr/>
        </p:nvSpPr>
        <p:spPr>
          <a:xfrm rot="0">
            <a:off x="1028700" y="1615520"/>
            <a:ext cx="11743702" cy="1692914"/>
          </a:xfrm>
          <a:prstGeom prst="rect">
            <a:avLst/>
          </a:prstGeom>
        </p:spPr>
        <p:txBody>
          <a:bodyPr anchor="t" rtlCol="false" tIns="0" lIns="0" bIns="0" rIns="0">
            <a:spAutoFit/>
          </a:bodyPr>
          <a:lstStyle/>
          <a:p>
            <a:pPr algn="l">
              <a:lnSpc>
                <a:spcPts val="6559"/>
              </a:lnSpc>
            </a:pPr>
            <a:r>
              <a:rPr lang="en-US" sz="5963" spc="-268">
                <a:solidFill>
                  <a:srgbClr val="FDCA01"/>
                </a:solidFill>
                <a:latin typeface="JA Jayagiri Sans Rough"/>
                <a:ea typeface="JA Jayagiri Sans Rough"/>
                <a:cs typeface="JA Jayagiri Sans Rough"/>
                <a:sym typeface="JA Jayagiri Sans Rough"/>
              </a:rPr>
              <a:t>Final OLS Model After Backward Selection</a:t>
            </a:r>
          </a:p>
        </p:txBody>
      </p:sp>
      <p:sp>
        <p:nvSpPr>
          <p:cNvPr name="TextBox 9" id="9"/>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sp>
        <p:nvSpPr>
          <p:cNvPr name="TextBox 10" id="10"/>
          <p:cNvSpPr txBox="true"/>
          <p:nvPr/>
        </p:nvSpPr>
        <p:spPr>
          <a:xfrm rot="0">
            <a:off x="11470978" y="3845556"/>
            <a:ext cx="6001559" cy="5587310"/>
          </a:xfrm>
          <a:prstGeom prst="rect">
            <a:avLst/>
          </a:prstGeom>
        </p:spPr>
        <p:txBody>
          <a:bodyPr anchor="t" rtlCol="false" tIns="0" lIns="0" bIns="0" rIns="0">
            <a:spAutoFit/>
          </a:bodyPr>
          <a:lstStyle/>
          <a:p>
            <a:pPr algn="just">
              <a:lnSpc>
                <a:spcPts val="2965"/>
              </a:lnSpc>
              <a:spcBef>
                <a:spcPct val="0"/>
              </a:spcBef>
            </a:pPr>
            <a:r>
              <a:rPr lang="en-US" sz="2695" spc="-121">
                <a:solidFill>
                  <a:srgbClr val="FFFFFF"/>
                </a:solidFill>
                <a:latin typeface="TT Interphases"/>
                <a:ea typeface="TT Interphases"/>
                <a:cs typeface="TT Interphases"/>
                <a:sym typeface="TT Interphases"/>
              </a:rPr>
              <a:t>The variable selection process resulted in a final model consisting of three key predictors, namely </a:t>
            </a:r>
            <a:r>
              <a:rPr lang="en-US" b="true" sz="2695" spc="-121">
                <a:solidFill>
                  <a:srgbClr val="FDC830"/>
                </a:solidFill>
                <a:latin typeface="TT Interphases Bold"/>
                <a:ea typeface="TT Interphases Bold"/>
                <a:cs typeface="TT Interphases Bold"/>
                <a:sym typeface="TT Interphases Bold"/>
              </a:rPr>
              <a:t>sleep quality</a:t>
            </a:r>
            <a:r>
              <a:rPr lang="en-US" sz="2695" spc="-121">
                <a:solidFill>
                  <a:srgbClr val="FFFFFF"/>
                </a:solidFill>
                <a:latin typeface="TT Interphases"/>
                <a:ea typeface="TT Interphases"/>
                <a:cs typeface="TT Interphases"/>
                <a:sym typeface="TT Interphases"/>
              </a:rPr>
              <a:t>, </a:t>
            </a:r>
            <a:r>
              <a:rPr lang="en-US" b="true" sz="2695" spc="-121">
                <a:solidFill>
                  <a:srgbClr val="FDC830"/>
                </a:solidFill>
                <a:latin typeface="TT Interphases Bold"/>
                <a:ea typeface="TT Interphases Bold"/>
                <a:cs typeface="TT Interphases Bold"/>
                <a:sym typeface="TT Interphases Bold"/>
              </a:rPr>
              <a:t>productivity</a:t>
            </a:r>
            <a:r>
              <a:rPr lang="en-US" sz="2695" spc="-121">
                <a:solidFill>
                  <a:srgbClr val="FFFFFF"/>
                </a:solidFill>
                <a:latin typeface="TT Interphases"/>
                <a:ea typeface="TT Interphases"/>
                <a:cs typeface="TT Interphases"/>
                <a:sym typeface="TT Interphases"/>
              </a:rPr>
              <a:t>, and </a:t>
            </a:r>
            <a:r>
              <a:rPr lang="en-US" b="true" sz="2695" spc="-121">
                <a:solidFill>
                  <a:srgbClr val="FDC830"/>
                </a:solidFill>
                <a:latin typeface="TT Interphases Bold"/>
                <a:ea typeface="TT Interphases Bold"/>
                <a:cs typeface="TT Interphases Bold"/>
                <a:sym typeface="TT Interphases Bold"/>
              </a:rPr>
              <a:t>mental wellness</a:t>
            </a:r>
            <a:r>
              <a:rPr lang="en-US" sz="2695" spc="-121">
                <a:solidFill>
                  <a:srgbClr val="FFFFFF"/>
                </a:solidFill>
                <a:latin typeface="TT Interphases"/>
                <a:ea typeface="TT Interphases"/>
                <a:cs typeface="TT Interphases"/>
                <a:sym typeface="TT Interphases"/>
              </a:rPr>
              <a:t>. The reduced model achieved a coefficient of determination of </a:t>
            </a:r>
            <a:r>
              <a:rPr lang="en-US" b="true" sz="2695" spc="-121">
                <a:solidFill>
                  <a:srgbClr val="FDC830"/>
                </a:solidFill>
                <a:latin typeface="TT Interphases Bold"/>
                <a:ea typeface="TT Interphases Bold"/>
                <a:cs typeface="TT Interphases Bold"/>
                <a:sym typeface="TT Interphases Bold"/>
              </a:rPr>
              <a:t>R² = 85.62%</a:t>
            </a:r>
            <a:r>
              <a:rPr lang="en-US" sz="2695" spc="-121">
                <a:solidFill>
                  <a:srgbClr val="FFFFFF"/>
                </a:solidFill>
                <a:latin typeface="TT Interphases"/>
                <a:ea typeface="TT Interphases"/>
                <a:cs typeface="TT Interphases"/>
                <a:sym typeface="TT Interphases"/>
              </a:rPr>
              <a:t>. Although this value is slightly lower than that of the full model, the difference is relatively small, indicating that the reduced model maintains a high explanatory power while using fewer predictors. Therefore, this reduced model was adopted as the final OLS specification, and these three variables were used in all subsequent analyses and diagnostic tests.</a:t>
            </a:r>
          </a:p>
        </p:txBody>
      </p:sp>
      <p:sp>
        <p:nvSpPr>
          <p:cNvPr name="AutoShape 11" id="11"/>
          <p:cNvSpPr/>
          <p:nvPr/>
        </p:nvSpPr>
        <p:spPr>
          <a:xfrm>
            <a:off x="15363897" y="7956550"/>
            <a:ext cx="2108640" cy="0"/>
          </a:xfrm>
          <a:prstGeom prst="line">
            <a:avLst/>
          </a:prstGeom>
          <a:ln cap="flat" w="38100">
            <a:solidFill>
              <a:srgbClr val="FDC830"/>
            </a:solidFill>
            <a:prstDash val="solid"/>
            <a:headEnd type="none" len="sm" w="sm"/>
            <a:tailEnd type="none" len="sm" w="sm"/>
          </a:ln>
        </p:spPr>
      </p:sp>
      <p:sp>
        <p:nvSpPr>
          <p:cNvPr name="AutoShape 12" id="12"/>
          <p:cNvSpPr/>
          <p:nvPr/>
        </p:nvSpPr>
        <p:spPr>
          <a:xfrm>
            <a:off x="11470978" y="8305599"/>
            <a:ext cx="6001559" cy="0"/>
          </a:xfrm>
          <a:prstGeom prst="line">
            <a:avLst/>
          </a:prstGeom>
          <a:ln cap="flat" w="38100">
            <a:solidFill>
              <a:srgbClr val="FDC830"/>
            </a:solidFill>
            <a:prstDash val="solid"/>
            <a:headEnd type="none" len="sm" w="sm"/>
            <a:tailEnd type="none" len="sm" w="sm"/>
          </a:ln>
        </p:spPr>
      </p:sp>
      <p:sp>
        <p:nvSpPr>
          <p:cNvPr name="AutoShape 13" id="13"/>
          <p:cNvSpPr/>
          <p:nvPr/>
        </p:nvSpPr>
        <p:spPr>
          <a:xfrm>
            <a:off x="11470101" y="8658024"/>
            <a:ext cx="5966753" cy="0"/>
          </a:xfrm>
          <a:prstGeom prst="line">
            <a:avLst/>
          </a:prstGeom>
          <a:ln cap="flat" w="38100">
            <a:solidFill>
              <a:srgbClr val="FDC830"/>
            </a:solidFill>
            <a:prstDash val="solid"/>
            <a:headEnd type="none" len="sm" w="sm"/>
            <a:tailEnd type="none" len="sm" w="sm"/>
          </a:ln>
        </p:spPr>
      </p:sp>
      <p:sp>
        <p:nvSpPr>
          <p:cNvPr name="AutoShape 14" id="14"/>
          <p:cNvSpPr/>
          <p:nvPr/>
        </p:nvSpPr>
        <p:spPr>
          <a:xfrm>
            <a:off x="11470101" y="9071589"/>
            <a:ext cx="5966753" cy="0"/>
          </a:xfrm>
          <a:prstGeom prst="line">
            <a:avLst/>
          </a:prstGeom>
          <a:ln cap="flat" w="38100">
            <a:solidFill>
              <a:srgbClr val="FDC830"/>
            </a:solidFill>
            <a:prstDash val="solid"/>
            <a:headEnd type="none" len="sm" w="sm"/>
            <a:tailEnd type="none" len="sm" w="sm"/>
          </a:ln>
        </p:spPr>
      </p:sp>
      <p:sp>
        <p:nvSpPr>
          <p:cNvPr name="AutoShape 15" id="15"/>
          <p:cNvSpPr/>
          <p:nvPr/>
        </p:nvSpPr>
        <p:spPr>
          <a:xfrm>
            <a:off x="11470101" y="9485154"/>
            <a:ext cx="2269794" cy="0"/>
          </a:xfrm>
          <a:prstGeom prst="line">
            <a:avLst/>
          </a:prstGeom>
          <a:ln cap="flat" w="38100">
            <a:solidFill>
              <a:srgbClr val="FDC83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824301" y="7156988"/>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3"/>
            <a:stretch>
              <a:fillRect l="0" t="0" r="0" b="-387"/>
            </a:stretch>
          </a:blipFill>
        </p:spPr>
      </p:sp>
      <p:sp>
        <p:nvSpPr>
          <p:cNvPr name="Freeform 3" id="3"/>
          <p:cNvSpPr/>
          <p:nvPr/>
        </p:nvSpPr>
        <p:spPr>
          <a:xfrm flipH="false" flipV="false" rot="0">
            <a:off x="13739895" y="-2840311"/>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3"/>
            <a:stretch>
              <a:fillRect l="0" t="0" r="0" b="-387"/>
            </a:stretch>
          </a:blipFill>
        </p:spPr>
      </p:sp>
      <p:sp>
        <p:nvSpPr>
          <p:cNvPr name="Freeform 4" id="4"/>
          <p:cNvSpPr/>
          <p:nvPr/>
        </p:nvSpPr>
        <p:spPr>
          <a:xfrm flipH="false" flipV="false" rot="0">
            <a:off x="-532843" y="8319518"/>
            <a:ext cx="2227947" cy="2227947"/>
          </a:xfrm>
          <a:custGeom>
            <a:avLst/>
            <a:gdLst/>
            <a:ahLst/>
            <a:cxnLst/>
            <a:rect r="r" b="b" t="t" l="l"/>
            <a:pathLst>
              <a:path h="2227947" w="2227947">
                <a:moveTo>
                  <a:pt x="0" y="0"/>
                </a:moveTo>
                <a:lnTo>
                  <a:pt x="2227947" y="0"/>
                </a:lnTo>
                <a:lnTo>
                  <a:pt x="2227947" y="2227947"/>
                </a:lnTo>
                <a:lnTo>
                  <a:pt x="0" y="22279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579495" y="755615"/>
            <a:ext cx="1096286" cy="1096286"/>
          </a:xfrm>
          <a:custGeom>
            <a:avLst/>
            <a:gdLst/>
            <a:ahLst/>
            <a:cxnLst/>
            <a:rect r="r" b="b" t="t" l="l"/>
            <a:pathLst>
              <a:path h="1096286" w="1096286">
                <a:moveTo>
                  <a:pt x="0" y="0"/>
                </a:moveTo>
                <a:lnTo>
                  <a:pt x="1096286" y="0"/>
                </a:lnTo>
                <a:lnTo>
                  <a:pt x="1096286" y="1096287"/>
                </a:lnTo>
                <a:lnTo>
                  <a:pt x="0" y="10962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272664" y="3223222"/>
            <a:ext cx="5620395" cy="1807200"/>
            <a:chOff x="0" y="0"/>
            <a:chExt cx="7493861" cy="2409600"/>
          </a:xfrm>
        </p:grpSpPr>
        <p:sp>
          <p:nvSpPr>
            <p:cNvPr name="Freeform 7" id="7"/>
            <p:cNvSpPr/>
            <p:nvPr/>
          </p:nvSpPr>
          <p:spPr>
            <a:xfrm flipH="false" flipV="false" rot="0">
              <a:off x="0" y="0"/>
              <a:ext cx="7493861" cy="806799"/>
            </a:xfrm>
            <a:custGeom>
              <a:avLst/>
              <a:gdLst/>
              <a:ahLst/>
              <a:cxnLst/>
              <a:rect r="r" b="b" t="t" l="l"/>
              <a:pathLst>
                <a:path h="806799" w="7493861">
                  <a:moveTo>
                    <a:pt x="0" y="0"/>
                  </a:moveTo>
                  <a:lnTo>
                    <a:pt x="7493861" y="0"/>
                  </a:lnTo>
                  <a:lnTo>
                    <a:pt x="7493861" y="806799"/>
                  </a:lnTo>
                  <a:lnTo>
                    <a:pt x="0" y="806799"/>
                  </a:lnTo>
                  <a:lnTo>
                    <a:pt x="0" y="0"/>
                  </a:lnTo>
                  <a:close/>
                </a:path>
              </a:pathLst>
            </a:custGeom>
            <a:blipFill>
              <a:blip r:embed="rId6"/>
              <a:stretch>
                <a:fillRect l="0" t="-93977" r="-63701" b="-1850415"/>
              </a:stretch>
            </a:blipFill>
            <a:ln w="28575" cap="sq">
              <a:solidFill>
                <a:srgbClr val="FDC830"/>
              </a:solidFill>
              <a:prstDash val="solid"/>
              <a:miter/>
            </a:ln>
          </p:spPr>
        </p:sp>
        <p:sp>
          <p:nvSpPr>
            <p:cNvPr name="Freeform 8" id="8"/>
            <p:cNvSpPr/>
            <p:nvPr/>
          </p:nvSpPr>
          <p:spPr>
            <a:xfrm flipH="false" flipV="false" rot="0">
              <a:off x="0" y="806799"/>
              <a:ext cx="7493861" cy="1602801"/>
            </a:xfrm>
            <a:custGeom>
              <a:avLst/>
              <a:gdLst/>
              <a:ahLst/>
              <a:cxnLst/>
              <a:rect r="r" b="b" t="t" l="l"/>
              <a:pathLst>
                <a:path h="1602801" w="7493861">
                  <a:moveTo>
                    <a:pt x="0" y="0"/>
                  </a:moveTo>
                  <a:lnTo>
                    <a:pt x="7493861" y="0"/>
                  </a:lnTo>
                  <a:lnTo>
                    <a:pt x="7493861" y="1602801"/>
                  </a:lnTo>
                  <a:lnTo>
                    <a:pt x="0" y="1602801"/>
                  </a:lnTo>
                  <a:lnTo>
                    <a:pt x="0" y="0"/>
                  </a:lnTo>
                  <a:close/>
                </a:path>
              </a:pathLst>
            </a:custGeom>
            <a:blipFill>
              <a:blip r:embed="rId6"/>
              <a:stretch>
                <a:fillRect l="-6720" t="-399000" r="-56980" b="-530082"/>
              </a:stretch>
            </a:blipFill>
            <a:ln w="28575" cap="sq">
              <a:solidFill>
                <a:srgbClr val="FDC830"/>
              </a:solidFill>
              <a:prstDash val="solid"/>
              <a:miter/>
            </a:ln>
          </p:spPr>
        </p:sp>
      </p:grpSp>
      <p:grpSp>
        <p:nvGrpSpPr>
          <p:cNvPr name="Group 9" id="9"/>
          <p:cNvGrpSpPr/>
          <p:nvPr/>
        </p:nvGrpSpPr>
        <p:grpSpPr>
          <a:xfrm rot="0">
            <a:off x="9892327" y="3223222"/>
            <a:ext cx="5548816" cy="1807200"/>
            <a:chOff x="0" y="0"/>
            <a:chExt cx="7398421" cy="2409600"/>
          </a:xfrm>
        </p:grpSpPr>
        <p:sp>
          <p:nvSpPr>
            <p:cNvPr name="Freeform 10" id="10"/>
            <p:cNvSpPr/>
            <p:nvPr/>
          </p:nvSpPr>
          <p:spPr>
            <a:xfrm flipH="false" flipV="false" rot="0">
              <a:off x="0" y="0"/>
              <a:ext cx="7398421" cy="441213"/>
            </a:xfrm>
            <a:custGeom>
              <a:avLst/>
              <a:gdLst/>
              <a:ahLst/>
              <a:cxnLst/>
              <a:rect r="r" b="b" t="t" l="l"/>
              <a:pathLst>
                <a:path h="441213" w="7398421">
                  <a:moveTo>
                    <a:pt x="0" y="0"/>
                  </a:moveTo>
                  <a:lnTo>
                    <a:pt x="7398421" y="0"/>
                  </a:lnTo>
                  <a:lnTo>
                    <a:pt x="7398421" y="441213"/>
                  </a:lnTo>
                  <a:lnTo>
                    <a:pt x="0" y="441213"/>
                  </a:lnTo>
                  <a:lnTo>
                    <a:pt x="0" y="0"/>
                  </a:lnTo>
                  <a:close/>
                </a:path>
              </a:pathLst>
            </a:custGeom>
            <a:blipFill>
              <a:blip r:embed="rId6"/>
              <a:stretch>
                <a:fillRect l="0" t="-2559326" r="-101793" b="-1890247"/>
              </a:stretch>
            </a:blipFill>
            <a:ln w="28575" cap="sq">
              <a:solidFill>
                <a:srgbClr val="FDC830"/>
              </a:solidFill>
              <a:prstDash val="solid"/>
              <a:miter/>
            </a:ln>
          </p:spPr>
        </p:sp>
        <p:sp>
          <p:nvSpPr>
            <p:cNvPr name="Freeform 11" id="11"/>
            <p:cNvSpPr/>
            <p:nvPr/>
          </p:nvSpPr>
          <p:spPr>
            <a:xfrm flipH="false" flipV="false" rot="0">
              <a:off x="0" y="441213"/>
              <a:ext cx="7398421" cy="1968387"/>
            </a:xfrm>
            <a:custGeom>
              <a:avLst/>
              <a:gdLst/>
              <a:ahLst/>
              <a:cxnLst/>
              <a:rect r="r" b="b" t="t" l="l"/>
              <a:pathLst>
                <a:path h="1968387" w="7398421">
                  <a:moveTo>
                    <a:pt x="0" y="0"/>
                  </a:moveTo>
                  <a:lnTo>
                    <a:pt x="7398421" y="0"/>
                  </a:lnTo>
                  <a:lnTo>
                    <a:pt x="7398421" y="1968387"/>
                  </a:lnTo>
                  <a:lnTo>
                    <a:pt x="0" y="1968387"/>
                  </a:lnTo>
                  <a:lnTo>
                    <a:pt x="0" y="0"/>
                  </a:lnTo>
                  <a:close/>
                </a:path>
              </a:pathLst>
            </a:custGeom>
            <a:blipFill>
              <a:blip r:embed="rId6"/>
              <a:stretch>
                <a:fillRect l="-7872" t="-644541" r="-93920" b="-275243"/>
              </a:stretch>
            </a:blipFill>
            <a:ln w="28575" cap="sq">
              <a:solidFill>
                <a:srgbClr val="FDC830"/>
              </a:solidFill>
              <a:prstDash val="solid"/>
              <a:miter/>
            </a:ln>
          </p:spPr>
        </p:sp>
      </p:grpSp>
      <p:grpSp>
        <p:nvGrpSpPr>
          <p:cNvPr name="Group 12" id="12"/>
          <p:cNvGrpSpPr/>
          <p:nvPr/>
        </p:nvGrpSpPr>
        <p:grpSpPr>
          <a:xfrm rot="0">
            <a:off x="1799949" y="7062709"/>
            <a:ext cx="6565826" cy="1523392"/>
            <a:chOff x="0" y="0"/>
            <a:chExt cx="8754435" cy="2031190"/>
          </a:xfrm>
        </p:grpSpPr>
        <p:sp>
          <p:nvSpPr>
            <p:cNvPr name="Freeform 13" id="13"/>
            <p:cNvSpPr/>
            <p:nvPr/>
          </p:nvSpPr>
          <p:spPr>
            <a:xfrm flipH="false" flipV="false" rot="0">
              <a:off x="0" y="0"/>
              <a:ext cx="8754435" cy="300203"/>
            </a:xfrm>
            <a:custGeom>
              <a:avLst/>
              <a:gdLst/>
              <a:ahLst/>
              <a:cxnLst/>
              <a:rect r="r" b="b" t="t" l="l"/>
              <a:pathLst>
                <a:path h="300203" w="8754435">
                  <a:moveTo>
                    <a:pt x="0" y="0"/>
                  </a:moveTo>
                  <a:lnTo>
                    <a:pt x="8754435" y="0"/>
                  </a:lnTo>
                  <a:lnTo>
                    <a:pt x="8754435" y="300203"/>
                  </a:lnTo>
                  <a:lnTo>
                    <a:pt x="0" y="300203"/>
                  </a:lnTo>
                  <a:lnTo>
                    <a:pt x="0" y="0"/>
                  </a:lnTo>
                  <a:close/>
                </a:path>
              </a:pathLst>
            </a:custGeom>
            <a:blipFill>
              <a:blip r:embed="rId6"/>
              <a:stretch>
                <a:fillRect l="0" t="-4001973" r="-25833" b="-831846"/>
              </a:stretch>
            </a:blipFill>
            <a:ln w="28575" cap="sq">
              <a:solidFill>
                <a:srgbClr val="FDC830"/>
              </a:solidFill>
              <a:prstDash val="solid"/>
              <a:miter/>
            </a:ln>
          </p:spPr>
        </p:sp>
        <p:sp>
          <p:nvSpPr>
            <p:cNvPr name="Freeform 14" id="14"/>
            <p:cNvSpPr/>
            <p:nvPr/>
          </p:nvSpPr>
          <p:spPr>
            <a:xfrm flipH="false" flipV="false" rot="0">
              <a:off x="0" y="301996"/>
              <a:ext cx="8754435" cy="1729194"/>
            </a:xfrm>
            <a:custGeom>
              <a:avLst/>
              <a:gdLst/>
              <a:ahLst/>
              <a:cxnLst/>
              <a:rect r="r" b="b" t="t" l="l"/>
              <a:pathLst>
                <a:path h="1729194" w="8754435">
                  <a:moveTo>
                    <a:pt x="0" y="0"/>
                  </a:moveTo>
                  <a:lnTo>
                    <a:pt x="8754435" y="0"/>
                  </a:lnTo>
                  <a:lnTo>
                    <a:pt x="8754435" y="1729194"/>
                  </a:lnTo>
                  <a:lnTo>
                    <a:pt x="0" y="1729194"/>
                  </a:lnTo>
                  <a:lnTo>
                    <a:pt x="0" y="0"/>
                  </a:lnTo>
                  <a:close/>
                </a:path>
              </a:pathLst>
            </a:custGeom>
            <a:blipFill>
              <a:blip r:embed="rId6"/>
              <a:stretch>
                <a:fillRect l="-4835" t="-756553" r="-20998" b="0"/>
              </a:stretch>
            </a:blipFill>
            <a:ln w="28575" cap="sq">
              <a:solidFill>
                <a:srgbClr val="FDC830"/>
              </a:solidFill>
              <a:prstDash val="solid"/>
              <a:miter/>
            </a:ln>
          </p:spPr>
        </p:sp>
      </p:grpSp>
      <p:grpSp>
        <p:nvGrpSpPr>
          <p:cNvPr name="Group 15" id="15"/>
          <p:cNvGrpSpPr/>
          <p:nvPr/>
        </p:nvGrpSpPr>
        <p:grpSpPr>
          <a:xfrm rot="0">
            <a:off x="9892327" y="7062709"/>
            <a:ext cx="6896440" cy="1523392"/>
            <a:chOff x="0" y="0"/>
            <a:chExt cx="9195254" cy="2031190"/>
          </a:xfrm>
        </p:grpSpPr>
        <p:sp>
          <p:nvSpPr>
            <p:cNvPr name="Freeform 16" id="16"/>
            <p:cNvSpPr/>
            <p:nvPr/>
          </p:nvSpPr>
          <p:spPr>
            <a:xfrm flipH="false" flipV="false" rot="0">
              <a:off x="0" y="0"/>
              <a:ext cx="9195254" cy="649981"/>
            </a:xfrm>
            <a:custGeom>
              <a:avLst/>
              <a:gdLst/>
              <a:ahLst/>
              <a:cxnLst/>
              <a:rect r="r" b="b" t="t" l="l"/>
              <a:pathLst>
                <a:path h="649981" w="9195254">
                  <a:moveTo>
                    <a:pt x="0" y="0"/>
                  </a:moveTo>
                  <a:lnTo>
                    <a:pt x="9195254" y="0"/>
                  </a:lnTo>
                  <a:lnTo>
                    <a:pt x="9195254" y="649981"/>
                  </a:lnTo>
                  <a:lnTo>
                    <a:pt x="0" y="649981"/>
                  </a:lnTo>
                  <a:lnTo>
                    <a:pt x="0" y="0"/>
                  </a:lnTo>
                  <a:close/>
                </a:path>
              </a:pathLst>
            </a:custGeom>
            <a:blipFill>
              <a:blip r:embed="rId7"/>
              <a:stretch>
                <a:fillRect l="-1633" t="-68100" r="-20174" b="-323015"/>
              </a:stretch>
            </a:blipFill>
            <a:ln w="28575" cap="sq">
              <a:solidFill>
                <a:srgbClr val="FDC830"/>
              </a:solidFill>
              <a:prstDash val="solid"/>
              <a:miter/>
            </a:ln>
          </p:spPr>
        </p:sp>
        <p:sp>
          <p:nvSpPr>
            <p:cNvPr name="Freeform 17" id="17"/>
            <p:cNvSpPr/>
            <p:nvPr/>
          </p:nvSpPr>
          <p:spPr>
            <a:xfrm flipH="false" flipV="false" rot="0">
              <a:off x="0" y="649981"/>
              <a:ext cx="9195254" cy="1381209"/>
            </a:xfrm>
            <a:custGeom>
              <a:avLst/>
              <a:gdLst/>
              <a:ahLst/>
              <a:cxnLst/>
              <a:rect r="r" b="b" t="t" l="l"/>
              <a:pathLst>
                <a:path h="1381209" w="9195254">
                  <a:moveTo>
                    <a:pt x="0" y="0"/>
                  </a:moveTo>
                  <a:lnTo>
                    <a:pt x="9195254" y="0"/>
                  </a:lnTo>
                  <a:lnTo>
                    <a:pt x="9195254" y="1381209"/>
                  </a:lnTo>
                  <a:lnTo>
                    <a:pt x="0" y="1381209"/>
                  </a:lnTo>
                  <a:lnTo>
                    <a:pt x="0" y="0"/>
                  </a:lnTo>
                  <a:close/>
                </a:path>
              </a:pathLst>
            </a:custGeom>
            <a:blipFill>
              <a:blip r:embed="rId7"/>
              <a:stretch>
                <a:fillRect l="-12695" t="-107641" r="-9112" b="-23472"/>
              </a:stretch>
            </a:blipFill>
            <a:ln w="28575" cap="sq">
              <a:solidFill>
                <a:srgbClr val="FDC830"/>
              </a:solidFill>
              <a:prstDash val="solid"/>
              <a:miter/>
            </a:ln>
          </p:spPr>
        </p:sp>
      </p:grpSp>
      <p:sp>
        <p:nvSpPr>
          <p:cNvPr name="TextBox 18" id="18"/>
          <p:cNvSpPr txBox="true"/>
          <p:nvPr/>
        </p:nvSpPr>
        <p:spPr>
          <a:xfrm rot="0">
            <a:off x="4469835" y="598427"/>
            <a:ext cx="9348329" cy="1656636"/>
          </a:xfrm>
          <a:prstGeom prst="rect">
            <a:avLst/>
          </a:prstGeom>
        </p:spPr>
        <p:txBody>
          <a:bodyPr anchor="t" rtlCol="false" tIns="0" lIns="0" bIns="0" rIns="0">
            <a:spAutoFit/>
          </a:bodyPr>
          <a:lstStyle/>
          <a:p>
            <a:pPr algn="ctr">
              <a:lnSpc>
                <a:spcPts val="6458"/>
              </a:lnSpc>
            </a:pPr>
            <a:r>
              <a:rPr lang="en-US" sz="5870" spc="-264">
                <a:solidFill>
                  <a:srgbClr val="FDCA01"/>
                </a:solidFill>
                <a:latin typeface="JA Jayagiri Sans Rough"/>
                <a:ea typeface="JA Jayagiri Sans Rough"/>
                <a:cs typeface="JA Jayagiri Sans Rough"/>
                <a:sym typeface="JA Jayagiri Sans Rough"/>
              </a:rPr>
              <a:t>OLS Assumption Diagnostic Tests</a:t>
            </a:r>
          </a:p>
        </p:txBody>
      </p:sp>
      <p:sp>
        <p:nvSpPr>
          <p:cNvPr name="TextBox 19" id="19"/>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sp>
        <p:nvSpPr>
          <p:cNvPr name="TextBox 20" id="20"/>
          <p:cNvSpPr txBox="true"/>
          <p:nvPr/>
        </p:nvSpPr>
        <p:spPr>
          <a:xfrm rot="0">
            <a:off x="2186767" y="2616517"/>
            <a:ext cx="5792191" cy="606705"/>
          </a:xfrm>
          <a:prstGeom prst="rect">
            <a:avLst/>
          </a:prstGeom>
        </p:spPr>
        <p:txBody>
          <a:bodyPr anchor="t" rtlCol="false" tIns="0" lIns="0" bIns="0" rIns="0">
            <a:spAutoFit/>
          </a:bodyPr>
          <a:lstStyle/>
          <a:p>
            <a:pPr algn="ctr">
              <a:lnSpc>
                <a:spcPts val="4692"/>
              </a:lnSpc>
            </a:pPr>
            <a:r>
              <a:rPr lang="en-US" sz="4265" spc="-191">
                <a:solidFill>
                  <a:srgbClr val="FFFFFF"/>
                </a:solidFill>
                <a:latin typeface="JA Jayagiri Sans Rough"/>
                <a:ea typeface="JA Jayagiri Sans Rough"/>
                <a:cs typeface="JA Jayagiri Sans Rough"/>
                <a:sym typeface="JA Jayagiri Sans Rough"/>
              </a:rPr>
              <a:t>Kolmogorov-Smirnov</a:t>
            </a:r>
          </a:p>
        </p:txBody>
      </p:sp>
      <p:sp>
        <p:nvSpPr>
          <p:cNvPr name="TextBox 21" id="21"/>
          <p:cNvSpPr txBox="true"/>
          <p:nvPr/>
        </p:nvSpPr>
        <p:spPr>
          <a:xfrm rot="0">
            <a:off x="2272664" y="5162550"/>
            <a:ext cx="5323884" cy="6187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p-value = 0.1062  &gt; 0.05, </a:t>
            </a:r>
          </a:p>
          <a:p>
            <a:pPr algn="l">
              <a:lnSpc>
                <a:spcPts val="2445"/>
              </a:lnSpc>
            </a:pPr>
            <a:r>
              <a:rPr lang="en-US" sz="2223" spc="-100" b="true">
                <a:solidFill>
                  <a:srgbClr val="F2EFE4"/>
                </a:solidFill>
                <a:latin typeface="TT Interphases Bold"/>
                <a:ea typeface="TT Interphases Bold"/>
                <a:cs typeface="TT Interphases Bold"/>
                <a:sym typeface="TT Interphases Bold"/>
              </a:rPr>
              <a:t>the residuals are normally distributed.</a:t>
            </a:r>
          </a:p>
        </p:txBody>
      </p:sp>
      <p:sp>
        <p:nvSpPr>
          <p:cNvPr name="TextBox 22" id="22"/>
          <p:cNvSpPr txBox="true"/>
          <p:nvPr/>
        </p:nvSpPr>
        <p:spPr>
          <a:xfrm rot="0">
            <a:off x="10053613" y="2616543"/>
            <a:ext cx="5226244" cy="606679"/>
          </a:xfrm>
          <a:prstGeom prst="rect">
            <a:avLst/>
          </a:prstGeom>
        </p:spPr>
        <p:txBody>
          <a:bodyPr anchor="t" rtlCol="false" tIns="0" lIns="0" bIns="0" rIns="0">
            <a:spAutoFit/>
          </a:bodyPr>
          <a:lstStyle/>
          <a:p>
            <a:pPr algn="ctr">
              <a:lnSpc>
                <a:spcPts val="4696"/>
              </a:lnSpc>
            </a:pPr>
            <a:r>
              <a:rPr lang="en-US" sz="4269" spc="-192">
                <a:solidFill>
                  <a:srgbClr val="FFFFFF"/>
                </a:solidFill>
                <a:latin typeface="JA Jayagiri Sans Rough"/>
                <a:ea typeface="JA Jayagiri Sans Rough"/>
                <a:cs typeface="JA Jayagiri Sans Rough"/>
                <a:sym typeface="JA Jayagiri Sans Rough"/>
              </a:rPr>
              <a:t>Breusch-Pagan</a:t>
            </a:r>
          </a:p>
        </p:txBody>
      </p:sp>
      <p:sp>
        <p:nvSpPr>
          <p:cNvPr name="TextBox 23" id="23"/>
          <p:cNvSpPr txBox="true"/>
          <p:nvPr/>
        </p:nvSpPr>
        <p:spPr>
          <a:xfrm rot="0">
            <a:off x="9892327" y="5259022"/>
            <a:ext cx="7366973" cy="6187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p-value of 0.009588 &lt;  0.05, </a:t>
            </a:r>
          </a:p>
          <a:p>
            <a:pPr algn="l">
              <a:lnSpc>
                <a:spcPts val="2445"/>
              </a:lnSpc>
            </a:pPr>
            <a:r>
              <a:rPr lang="en-US" sz="2223" spc="-100" b="true">
                <a:solidFill>
                  <a:srgbClr val="FDC830"/>
                </a:solidFill>
                <a:latin typeface="TT Interphases Bold"/>
                <a:ea typeface="TT Interphases Bold"/>
                <a:cs typeface="TT Interphases Bold"/>
                <a:sym typeface="TT Interphases Bold"/>
              </a:rPr>
              <a:t>indicating a violation of the homoskedasticity assumption.</a:t>
            </a:r>
          </a:p>
        </p:txBody>
      </p:sp>
      <p:sp>
        <p:nvSpPr>
          <p:cNvPr name="TextBox 24" id="24"/>
          <p:cNvSpPr txBox="true"/>
          <p:nvPr/>
        </p:nvSpPr>
        <p:spPr>
          <a:xfrm rot="0">
            <a:off x="2321484" y="6456030"/>
            <a:ext cx="5226244" cy="606679"/>
          </a:xfrm>
          <a:prstGeom prst="rect">
            <a:avLst/>
          </a:prstGeom>
        </p:spPr>
        <p:txBody>
          <a:bodyPr anchor="t" rtlCol="false" tIns="0" lIns="0" bIns="0" rIns="0">
            <a:spAutoFit/>
          </a:bodyPr>
          <a:lstStyle/>
          <a:p>
            <a:pPr algn="ctr">
              <a:lnSpc>
                <a:spcPts val="4696"/>
              </a:lnSpc>
            </a:pPr>
            <a:r>
              <a:rPr lang="en-US" sz="4269" spc="-192">
                <a:solidFill>
                  <a:srgbClr val="FFFFFF"/>
                </a:solidFill>
                <a:latin typeface="JA Jayagiri Sans Rough"/>
                <a:ea typeface="JA Jayagiri Sans Rough"/>
                <a:cs typeface="JA Jayagiri Sans Rough"/>
                <a:sym typeface="JA Jayagiri Sans Rough"/>
              </a:rPr>
              <a:t>Durbin-Watson</a:t>
            </a:r>
          </a:p>
        </p:txBody>
      </p:sp>
      <p:sp>
        <p:nvSpPr>
          <p:cNvPr name="TextBox 25" id="25"/>
          <p:cNvSpPr txBox="true"/>
          <p:nvPr/>
        </p:nvSpPr>
        <p:spPr>
          <a:xfrm rot="0">
            <a:off x="1807893" y="8814701"/>
            <a:ext cx="5323884" cy="6187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p-value = 0.6939,</a:t>
            </a:r>
          </a:p>
          <a:p>
            <a:pPr algn="l">
              <a:lnSpc>
                <a:spcPts val="2445"/>
              </a:lnSpc>
            </a:pPr>
            <a:r>
              <a:rPr lang="en-US" sz="2223" spc="-100" b="true">
                <a:solidFill>
                  <a:srgbClr val="F2EFE4"/>
                </a:solidFill>
                <a:latin typeface="TT Interphases Bold"/>
                <a:ea typeface="TT Interphases Bold"/>
                <a:cs typeface="TT Interphases Bold"/>
                <a:sym typeface="TT Interphases Bold"/>
              </a:rPr>
              <a:t>no evidence of autocorrelation </a:t>
            </a:r>
          </a:p>
        </p:txBody>
      </p:sp>
      <p:sp>
        <p:nvSpPr>
          <p:cNvPr name="TextBox 26" id="26"/>
          <p:cNvSpPr txBox="true"/>
          <p:nvPr/>
        </p:nvSpPr>
        <p:spPr>
          <a:xfrm rot="0">
            <a:off x="9892327" y="8814701"/>
            <a:ext cx="6896440" cy="6187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No multicollinearity is detected, as all Variance Inflation Factor (VIF) values fall </a:t>
            </a:r>
            <a:r>
              <a:rPr lang="en-US" sz="2223" spc="-100" b="true">
                <a:solidFill>
                  <a:srgbClr val="F2EFE4"/>
                </a:solidFill>
                <a:latin typeface="TT Interphases Bold"/>
                <a:ea typeface="TT Interphases Bold"/>
                <a:cs typeface="TT Interphases Bold"/>
                <a:sym typeface="TT Interphases Bold"/>
              </a:rPr>
              <a:t>below </a:t>
            </a:r>
            <a:r>
              <a:rPr lang="en-US" sz="2223" spc="-100">
                <a:solidFill>
                  <a:srgbClr val="F2EFE4"/>
                </a:solidFill>
                <a:latin typeface="TT Interphases"/>
                <a:ea typeface="TT Interphases"/>
                <a:cs typeface="TT Interphases"/>
                <a:sym typeface="TT Interphases"/>
              </a:rPr>
              <a:t>the critical threshold (VIF &lt; 10).</a:t>
            </a:r>
          </a:p>
        </p:txBody>
      </p:sp>
      <p:sp>
        <p:nvSpPr>
          <p:cNvPr name="TextBox 27" id="27"/>
          <p:cNvSpPr txBox="true"/>
          <p:nvPr/>
        </p:nvSpPr>
        <p:spPr>
          <a:xfrm rot="0">
            <a:off x="10727426" y="6456030"/>
            <a:ext cx="5226244" cy="606679"/>
          </a:xfrm>
          <a:prstGeom prst="rect">
            <a:avLst/>
          </a:prstGeom>
        </p:spPr>
        <p:txBody>
          <a:bodyPr anchor="t" rtlCol="false" tIns="0" lIns="0" bIns="0" rIns="0">
            <a:spAutoFit/>
          </a:bodyPr>
          <a:lstStyle/>
          <a:p>
            <a:pPr algn="ctr">
              <a:lnSpc>
                <a:spcPts val="4696"/>
              </a:lnSpc>
            </a:pPr>
            <a:r>
              <a:rPr lang="en-US" sz="4269" spc="-192">
                <a:solidFill>
                  <a:srgbClr val="FFFFFF"/>
                </a:solidFill>
                <a:latin typeface="JA Jayagiri Sans Rough"/>
                <a:ea typeface="JA Jayagiri Sans Rough"/>
                <a:cs typeface="JA Jayagiri Sans Rough"/>
                <a:sym typeface="JA Jayagiri Sans Rough"/>
              </a:rPr>
              <a:t>VIF Test</a:t>
            </a:r>
          </a:p>
        </p:txBody>
      </p:sp>
      <p:sp>
        <p:nvSpPr>
          <p:cNvPr name="Freeform 28" id="28"/>
          <p:cNvSpPr/>
          <p:nvPr/>
        </p:nvSpPr>
        <p:spPr>
          <a:xfrm flipH="true" flipV="false" rot="0">
            <a:off x="15944141" y="2305899"/>
            <a:ext cx="1315159" cy="1834647"/>
          </a:xfrm>
          <a:custGeom>
            <a:avLst/>
            <a:gdLst/>
            <a:ahLst/>
            <a:cxnLst/>
            <a:rect r="r" b="b" t="t" l="l"/>
            <a:pathLst>
              <a:path h="1834647" w="1315159">
                <a:moveTo>
                  <a:pt x="1315159" y="0"/>
                </a:moveTo>
                <a:lnTo>
                  <a:pt x="0" y="0"/>
                </a:lnTo>
                <a:lnTo>
                  <a:pt x="0" y="1834647"/>
                </a:lnTo>
                <a:lnTo>
                  <a:pt x="1315159" y="1834647"/>
                </a:lnTo>
                <a:lnTo>
                  <a:pt x="1315159"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824301" y="7156988"/>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3"/>
            <a:stretch>
              <a:fillRect l="0" t="0" r="0" b="-387"/>
            </a:stretch>
          </a:blipFill>
        </p:spPr>
      </p:sp>
      <p:sp>
        <p:nvSpPr>
          <p:cNvPr name="Freeform 3" id="3"/>
          <p:cNvSpPr/>
          <p:nvPr/>
        </p:nvSpPr>
        <p:spPr>
          <a:xfrm flipH="false" flipV="false" rot="0">
            <a:off x="13739895" y="-2840311"/>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3"/>
            <a:stretch>
              <a:fillRect l="0" t="0" r="0" b="-387"/>
            </a:stretch>
          </a:blipFill>
        </p:spPr>
      </p:sp>
      <p:sp>
        <p:nvSpPr>
          <p:cNvPr name="TextBox 4" id="4"/>
          <p:cNvSpPr txBox="true"/>
          <p:nvPr/>
        </p:nvSpPr>
        <p:spPr>
          <a:xfrm rot="0">
            <a:off x="1404509" y="1690077"/>
            <a:ext cx="15576277" cy="1003300"/>
          </a:xfrm>
          <a:prstGeom prst="rect">
            <a:avLst/>
          </a:prstGeom>
        </p:spPr>
        <p:txBody>
          <a:bodyPr anchor="t" rtlCol="false" tIns="0" lIns="0" bIns="0" rIns="0">
            <a:spAutoFit/>
          </a:bodyPr>
          <a:lstStyle/>
          <a:p>
            <a:pPr algn="l">
              <a:lnSpc>
                <a:spcPts val="7699"/>
              </a:lnSpc>
            </a:pPr>
            <a:r>
              <a:rPr lang="en-US" sz="6999" spc="-314">
                <a:solidFill>
                  <a:srgbClr val="FDCA01"/>
                </a:solidFill>
                <a:latin typeface="JA Jayagiri Sans Rough"/>
                <a:ea typeface="JA Jayagiri Sans Rough"/>
                <a:cs typeface="JA Jayagiri Sans Rough"/>
                <a:sym typeface="JA Jayagiri Sans Rough"/>
              </a:rPr>
              <a:t>Generalized Least Squares (GLS)</a:t>
            </a:r>
          </a:p>
        </p:txBody>
      </p:sp>
      <p:sp>
        <p:nvSpPr>
          <p:cNvPr name="Freeform 5" id="5"/>
          <p:cNvSpPr/>
          <p:nvPr/>
        </p:nvSpPr>
        <p:spPr>
          <a:xfrm flipH="false" flipV="false" rot="0">
            <a:off x="3115" y="2054104"/>
            <a:ext cx="1025585" cy="1025585"/>
          </a:xfrm>
          <a:custGeom>
            <a:avLst/>
            <a:gdLst/>
            <a:ahLst/>
            <a:cxnLst/>
            <a:rect r="r" b="b" t="t" l="l"/>
            <a:pathLst>
              <a:path h="1025585" w="1025585">
                <a:moveTo>
                  <a:pt x="0" y="0"/>
                </a:moveTo>
                <a:lnTo>
                  <a:pt x="1025585" y="0"/>
                </a:lnTo>
                <a:lnTo>
                  <a:pt x="1025585" y="1025585"/>
                </a:lnTo>
                <a:lnTo>
                  <a:pt x="0" y="10255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980787" y="418722"/>
            <a:ext cx="1635382" cy="1635382"/>
          </a:xfrm>
          <a:custGeom>
            <a:avLst/>
            <a:gdLst/>
            <a:ahLst/>
            <a:cxnLst/>
            <a:rect r="r" b="b" t="t" l="l"/>
            <a:pathLst>
              <a:path h="1635382" w="1635382">
                <a:moveTo>
                  <a:pt x="0" y="0"/>
                </a:moveTo>
                <a:lnTo>
                  <a:pt x="1635381" y="0"/>
                </a:lnTo>
                <a:lnTo>
                  <a:pt x="1635381" y="1635382"/>
                </a:lnTo>
                <a:lnTo>
                  <a:pt x="0" y="16353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7" id="7"/>
          <p:cNvGraphicFramePr/>
          <p:nvPr/>
        </p:nvGraphicFramePr>
        <p:xfrm>
          <a:off x="1028700" y="2693377"/>
          <a:ext cx="9429750" cy="3771900"/>
        </p:xfrm>
        <a:graphic>
          <a:graphicData uri="http://schemas.openxmlformats.org/presentationml/2006/ole">
            <p:oleObj imgW="11315700" imgH="5651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Freeform 8" id="8"/>
          <p:cNvSpPr/>
          <p:nvPr/>
        </p:nvSpPr>
        <p:spPr>
          <a:xfrm flipH="false" flipV="false" rot="0">
            <a:off x="-311124" y="6290280"/>
            <a:ext cx="3289781" cy="4203365"/>
          </a:xfrm>
          <a:custGeom>
            <a:avLst/>
            <a:gdLst/>
            <a:ahLst/>
            <a:cxnLst/>
            <a:rect r="r" b="b" t="t" l="l"/>
            <a:pathLst>
              <a:path h="4203365" w="3289781">
                <a:moveTo>
                  <a:pt x="0" y="0"/>
                </a:moveTo>
                <a:lnTo>
                  <a:pt x="3289780" y="0"/>
                </a:lnTo>
                <a:lnTo>
                  <a:pt x="3289780" y="4203365"/>
                </a:lnTo>
                <a:lnTo>
                  <a:pt x="0" y="42033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sp>
        <p:nvSpPr>
          <p:cNvPr name="TextBox 10" id="10"/>
          <p:cNvSpPr txBox="true"/>
          <p:nvPr/>
        </p:nvSpPr>
        <p:spPr>
          <a:xfrm rot="0">
            <a:off x="9897060" y="6122635"/>
            <a:ext cx="6754914" cy="668955"/>
          </a:xfrm>
          <a:prstGeom prst="rect">
            <a:avLst/>
          </a:prstGeom>
        </p:spPr>
        <p:txBody>
          <a:bodyPr anchor="t" rtlCol="false" tIns="0" lIns="0" bIns="0" rIns="0">
            <a:spAutoFit/>
          </a:bodyPr>
          <a:lstStyle/>
          <a:p>
            <a:pPr algn="l" marL="523257" indent="-261629" lvl="1">
              <a:lnSpc>
                <a:spcPts val="2665"/>
              </a:lnSpc>
              <a:buFont typeface="Arial"/>
              <a:buChar char="•"/>
            </a:pPr>
            <a:r>
              <a:rPr lang="en-US" sz="2423" spc="-109">
                <a:solidFill>
                  <a:srgbClr val="FFFFFF"/>
                </a:solidFill>
                <a:latin typeface="TT Interphases"/>
                <a:ea typeface="TT Interphases"/>
                <a:cs typeface="TT Interphases"/>
                <a:sym typeface="TT Interphases"/>
              </a:rPr>
              <a:t>Diagnostic tests confirm </a:t>
            </a:r>
            <a:r>
              <a:rPr lang="en-US" b="true" sz="2423" spc="-109">
                <a:solidFill>
                  <a:srgbClr val="FFFFFF"/>
                </a:solidFill>
                <a:latin typeface="TT Interphases Bold"/>
                <a:ea typeface="TT Interphases Bold"/>
                <a:cs typeface="TT Interphases Bold"/>
                <a:sym typeface="TT Interphases Bold"/>
              </a:rPr>
              <a:t>a substantial reduction in heteroskedasticity.</a:t>
            </a:r>
          </a:p>
        </p:txBody>
      </p:sp>
      <p:sp>
        <p:nvSpPr>
          <p:cNvPr name="TextBox 11" id="11"/>
          <p:cNvSpPr txBox="true"/>
          <p:nvPr/>
        </p:nvSpPr>
        <p:spPr>
          <a:xfrm rot="0">
            <a:off x="9801069" y="3040177"/>
            <a:ext cx="6621181" cy="1335705"/>
          </a:xfrm>
          <a:prstGeom prst="rect">
            <a:avLst/>
          </a:prstGeom>
        </p:spPr>
        <p:txBody>
          <a:bodyPr anchor="t" rtlCol="false" tIns="0" lIns="0" bIns="0" rIns="0">
            <a:spAutoFit/>
          </a:bodyPr>
          <a:lstStyle/>
          <a:p>
            <a:pPr algn="l" marL="523257" indent="-261629" lvl="1">
              <a:lnSpc>
                <a:spcPts val="2665"/>
              </a:lnSpc>
              <a:buFont typeface="Arial"/>
              <a:buChar char="•"/>
            </a:pPr>
            <a:r>
              <a:rPr lang="en-US" sz="2423" spc="-109">
                <a:solidFill>
                  <a:srgbClr val="FFFFFF"/>
                </a:solidFill>
                <a:latin typeface="TT Interphases"/>
                <a:ea typeface="TT Interphases"/>
                <a:cs typeface="TT Interphases"/>
                <a:sym typeface="TT Interphases"/>
              </a:rPr>
              <a:t>To address </a:t>
            </a:r>
            <a:r>
              <a:rPr lang="en-US" b="true" sz="2423" spc="-109">
                <a:solidFill>
                  <a:srgbClr val="FFFFFF"/>
                </a:solidFill>
                <a:latin typeface="TT Interphases Bold"/>
                <a:ea typeface="TT Interphases Bold"/>
                <a:cs typeface="TT Interphases Bold"/>
                <a:sym typeface="TT Interphases Bold"/>
              </a:rPr>
              <a:t>heteroskedasticity</a:t>
            </a:r>
            <a:r>
              <a:rPr lang="en-US" sz="2423" spc="-109">
                <a:solidFill>
                  <a:srgbClr val="FFFFFF"/>
                </a:solidFill>
                <a:latin typeface="TT Interphases"/>
                <a:ea typeface="TT Interphases"/>
                <a:cs typeface="TT Interphases"/>
                <a:sym typeface="TT Interphases"/>
              </a:rPr>
              <a:t> in the OLS model, the regression was re-estimated using </a:t>
            </a:r>
            <a:r>
              <a:rPr lang="en-US" b="true" sz="2423" spc="-109">
                <a:solidFill>
                  <a:srgbClr val="FFFFFF"/>
                </a:solidFill>
                <a:latin typeface="TT Interphases Bold"/>
                <a:ea typeface="TT Interphases Bold"/>
                <a:cs typeface="TT Interphases Bold"/>
                <a:sym typeface="TT Interphases Bold"/>
              </a:rPr>
              <a:t>Generalized Least Squares (GLS)</a:t>
            </a:r>
            <a:r>
              <a:rPr lang="en-US" sz="2423" spc="-109">
                <a:solidFill>
                  <a:srgbClr val="FFFFFF"/>
                </a:solidFill>
                <a:latin typeface="TT Interphases"/>
                <a:ea typeface="TT Interphases"/>
                <a:cs typeface="TT Interphases"/>
                <a:sym typeface="TT Interphases"/>
              </a:rPr>
              <a:t> with a power variance function.</a:t>
            </a:r>
          </a:p>
        </p:txBody>
      </p:sp>
      <p:sp>
        <p:nvSpPr>
          <p:cNvPr name="TextBox 12" id="12"/>
          <p:cNvSpPr txBox="true"/>
          <p:nvPr/>
        </p:nvSpPr>
        <p:spPr>
          <a:xfrm rot="0">
            <a:off x="9801069" y="4718782"/>
            <a:ext cx="6946895" cy="1002330"/>
          </a:xfrm>
          <a:prstGeom prst="rect">
            <a:avLst/>
          </a:prstGeom>
        </p:spPr>
        <p:txBody>
          <a:bodyPr anchor="t" rtlCol="false" tIns="0" lIns="0" bIns="0" rIns="0">
            <a:spAutoFit/>
          </a:bodyPr>
          <a:lstStyle/>
          <a:p>
            <a:pPr algn="l" marL="523257" indent="-261629" lvl="1">
              <a:lnSpc>
                <a:spcPts val="2665"/>
              </a:lnSpc>
              <a:buFont typeface="Arial"/>
              <a:buChar char="•"/>
            </a:pPr>
            <a:r>
              <a:rPr lang="en-US" b="true" sz="2423" spc="-109">
                <a:solidFill>
                  <a:srgbClr val="FFFFFF"/>
                </a:solidFill>
                <a:latin typeface="TT Interphases Bold"/>
                <a:ea typeface="TT Interphases Bold"/>
                <a:cs typeface="TT Interphases Bold"/>
                <a:sym typeface="TT Interphases Bold"/>
              </a:rPr>
              <a:t>Productivity </a:t>
            </a:r>
            <a:r>
              <a:rPr lang="en-US" sz="2423" spc="-109">
                <a:solidFill>
                  <a:srgbClr val="FFFFFF"/>
                </a:solidFill>
                <a:latin typeface="TT Interphases"/>
                <a:ea typeface="TT Interphases"/>
                <a:cs typeface="TT Interphases"/>
                <a:sym typeface="TT Interphases"/>
              </a:rPr>
              <a:t>and </a:t>
            </a:r>
            <a:r>
              <a:rPr lang="en-US" b="true" sz="2423" spc="-109">
                <a:solidFill>
                  <a:srgbClr val="FFFFFF"/>
                </a:solidFill>
                <a:latin typeface="TT Interphases Bold"/>
                <a:ea typeface="TT Interphases Bold"/>
                <a:cs typeface="TT Interphases Bold"/>
                <a:sym typeface="TT Interphases Bold"/>
              </a:rPr>
              <a:t>mental wellness </a:t>
            </a:r>
            <a:r>
              <a:rPr lang="en-US" sz="2423" spc="-109">
                <a:solidFill>
                  <a:srgbClr val="FFFFFF"/>
                </a:solidFill>
                <a:latin typeface="TT Interphases"/>
                <a:ea typeface="TT Interphases"/>
                <a:cs typeface="TT Interphases"/>
                <a:sym typeface="TT Interphases"/>
              </a:rPr>
              <a:t>show </a:t>
            </a:r>
            <a:r>
              <a:rPr lang="en-US" b="true" sz="2423" spc="-109">
                <a:solidFill>
                  <a:srgbClr val="FFFFFF"/>
                </a:solidFill>
                <a:latin typeface="TT Interphases Bold"/>
                <a:ea typeface="TT Interphases Bold"/>
                <a:cs typeface="TT Interphases Bold"/>
                <a:sym typeface="TT Interphases Bold"/>
              </a:rPr>
              <a:t>negativ</a:t>
            </a:r>
            <a:r>
              <a:rPr lang="en-US" sz="2423" spc="-109">
                <a:solidFill>
                  <a:srgbClr val="FFFFFF"/>
                </a:solidFill>
                <a:latin typeface="TT Interphases"/>
                <a:ea typeface="TT Interphases"/>
                <a:cs typeface="TT Interphases"/>
                <a:sym typeface="TT Interphases"/>
              </a:rPr>
              <a:t>e effects on </a:t>
            </a:r>
            <a:r>
              <a:rPr lang="en-US" b="true" sz="2423" spc="-109">
                <a:solidFill>
                  <a:srgbClr val="FFFFFF"/>
                </a:solidFill>
                <a:latin typeface="TT Interphases Bold"/>
                <a:ea typeface="TT Interphases Bold"/>
                <a:cs typeface="TT Interphases Bold"/>
                <a:sym typeface="TT Interphases Bold"/>
              </a:rPr>
              <a:t>stress levels</a:t>
            </a:r>
            <a:r>
              <a:rPr lang="en-US" sz="2423" spc="-109">
                <a:solidFill>
                  <a:srgbClr val="FFFFFF"/>
                </a:solidFill>
                <a:latin typeface="TT Interphases"/>
                <a:ea typeface="TT Interphases"/>
                <a:cs typeface="TT Interphases"/>
                <a:sym typeface="TT Interphases"/>
              </a:rPr>
              <a:t>, while sleep quality remains a significant predictor.</a:t>
            </a:r>
          </a:p>
        </p:txBody>
      </p:sp>
      <p:sp>
        <p:nvSpPr>
          <p:cNvPr name="TextBox 13" id="13"/>
          <p:cNvSpPr txBox="true"/>
          <p:nvPr/>
        </p:nvSpPr>
        <p:spPr>
          <a:xfrm rot="0">
            <a:off x="9897060" y="7354042"/>
            <a:ext cx="7281223" cy="668955"/>
          </a:xfrm>
          <a:prstGeom prst="rect">
            <a:avLst/>
          </a:prstGeom>
        </p:spPr>
        <p:txBody>
          <a:bodyPr anchor="t" rtlCol="false" tIns="0" lIns="0" bIns="0" rIns="0">
            <a:spAutoFit/>
          </a:bodyPr>
          <a:lstStyle/>
          <a:p>
            <a:pPr algn="l" marL="523257" indent="-261629" lvl="1">
              <a:lnSpc>
                <a:spcPts val="2665"/>
              </a:lnSpc>
              <a:buFont typeface="Arial"/>
              <a:buChar char="•"/>
            </a:pPr>
            <a:r>
              <a:rPr lang="en-US" sz="2423" spc="-109">
                <a:solidFill>
                  <a:srgbClr val="FFFFFF"/>
                </a:solidFill>
                <a:latin typeface="TT Interphases"/>
                <a:ea typeface="TT Interphases"/>
                <a:cs typeface="TT Interphases"/>
                <a:sym typeface="TT Interphases"/>
              </a:rPr>
              <a:t>All predictors remain </a:t>
            </a:r>
            <a:r>
              <a:rPr lang="en-US" b="true" sz="2423" spc="-109">
                <a:solidFill>
                  <a:srgbClr val="FFFFFF"/>
                </a:solidFill>
                <a:latin typeface="TT Interphases Bold"/>
                <a:ea typeface="TT Interphases Bold"/>
                <a:cs typeface="TT Interphases Bold"/>
                <a:sym typeface="TT Interphases Bold"/>
              </a:rPr>
              <a:t>statistically significant</a:t>
            </a:r>
            <a:r>
              <a:rPr lang="en-US" sz="2423" spc="-109">
                <a:solidFill>
                  <a:srgbClr val="FFFFFF"/>
                </a:solidFill>
                <a:latin typeface="TT Interphases"/>
                <a:ea typeface="TT Interphases"/>
                <a:cs typeface="TT Interphases"/>
                <a:sym typeface="TT Interphases"/>
              </a:rPr>
              <a:t>, with coefficient signs consistent with the OLS results.</a:t>
            </a:r>
          </a:p>
        </p:txBody>
      </p:sp>
      <p:sp>
        <p:nvSpPr>
          <p:cNvPr name="TextBox 14" id="14"/>
          <p:cNvSpPr txBox="true"/>
          <p:nvPr/>
        </p:nvSpPr>
        <p:spPr>
          <a:xfrm rot="0">
            <a:off x="3240844" y="9104798"/>
            <a:ext cx="13507120" cy="335580"/>
          </a:xfrm>
          <a:prstGeom prst="rect">
            <a:avLst/>
          </a:prstGeom>
        </p:spPr>
        <p:txBody>
          <a:bodyPr anchor="t" rtlCol="false" tIns="0" lIns="0" bIns="0" rIns="0">
            <a:spAutoFit/>
          </a:bodyPr>
          <a:lstStyle/>
          <a:p>
            <a:pPr algn="ctr">
              <a:lnSpc>
                <a:spcPts val="2665"/>
              </a:lnSpc>
              <a:spcBef>
                <a:spcPct val="0"/>
              </a:spcBef>
            </a:pPr>
            <a:r>
              <a:rPr lang="en-US" b="true" sz="2423" spc="-109">
                <a:solidFill>
                  <a:srgbClr val="051438"/>
                </a:solidFill>
                <a:latin typeface="TT Interphases Bold"/>
                <a:ea typeface="TT Interphases Bold"/>
                <a:cs typeface="TT Interphases Bold"/>
                <a:sym typeface="TT Interphases Bold"/>
              </a:rPr>
              <a:t>The GLS model is therefore adopted as the preferred and final specification for explaining stress levels.</a:t>
            </a:r>
          </a:p>
        </p:txBody>
      </p:sp>
      <p:sp>
        <p:nvSpPr>
          <p:cNvPr name="Freeform 15" id="15"/>
          <p:cNvSpPr/>
          <p:nvPr/>
        </p:nvSpPr>
        <p:spPr>
          <a:xfrm flipH="false" flipV="false" rot="0">
            <a:off x="2904576" y="8391962"/>
            <a:ext cx="473790" cy="473790"/>
          </a:xfrm>
          <a:custGeom>
            <a:avLst/>
            <a:gdLst/>
            <a:ahLst/>
            <a:cxnLst/>
            <a:rect r="r" b="b" t="t" l="l"/>
            <a:pathLst>
              <a:path h="473790" w="473790">
                <a:moveTo>
                  <a:pt x="0" y="0"/>
                </a:moveTo>
                <a:lnTo>
                  <a:pt x="473790" y="0"/>
                </a:lnTo>
                <a:lnTo>
                  <a:pt x="473790" y="473791"/>
                </a:lnTo>
                <a:lnTo>
                  <a:pt x="0" y="4737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3141471" y="8628857"/>
            <a:ext cx="287579" cy="287579"/>
          </a:xfrm>
          <a:custGeom>
            <a:avLst/>
            <a:gdLst/>
            <a:ahLst/>
            <a:cxnLst/>
            <a:rect r="r" b="b" t="t" l="l"/>
            <a:pathLst>
              <a:path h="287579" w="287579">
                <a:moveTo>
                  <a:pt x="0" y="0"/>
                </a:moveTo>
                <a:lnTo>
                  <a:pt x="287579" y="0"/>
                </a:lnTo>
                <a:lnTo>
                  <a:pt x="287579" y="287580"/>
                </a:lnTo>
                <a:lnTo>
                  <a:pt x="0" y="2875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7115109" y="9491062"/>
            <a:ext cx="473790" cy="473790"/>
          </a:xfrm>
          <a:custGeom>
            <a:avLst/>
            <a:gdLst/>
            <a:ahLst/>
            <a:cxnLst/>
            <a:rect r="r" b="b" t="t" l="l"/>
            <a:pathLst>
              <a:path h="473790" w="473790">
                <a:moveTo>
                  <a:pt x="0" y="0"/>
                </a:moveTo>
                <a:lnTo>
                  <a:pt x="473790" y="0"/>
                </a:lnTo>
                <a:lnTo>
                  <a:pt x="473790" y="473790"/>
                </a:lnTo>
                <a:lnTo>
                  <a:pt x="0" y="473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16929701" y="9440377"/>
            <a:ext cx="287579" cy="287579"/>
          </a:xfrm>
          <a:custGeom>
            <a:avLst/>
            <a:gdLst/>
            <a:ahLst/>
            <a:cxnLst/>
            <a:rect r="r" b="b" t="t" l="l"/>
            <a:pathLst>
              <a:path h="287579" w="287579">
                <a:moveTo>
                  <a:pt x="0" y="0"/>
                </a:moveTo>
                <a:lnTo>
                  <a:pt x="287579" y="0"/>
                </a:lnTo>
                <a:lnTo>
                  <a:pt x="287579" y="287580"/>
                </a:lnTo>
                <a:lnTo>
                  <a:pt x="0" y="2875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824301" y="7156988"/>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2"/>
            <a:stretch>
              <a:fillRect l="0" t="0" r="0" b="-387"/>
            </a:stretch>
          </a:blipFill>
        </p:spPr>
      </p:sp>
      <p:sp>
        <p:nvSpPr>
          <p:cNvPr name="Freeform 3" id="3"/>
          <p:cNvSpPr/>
          <p:nvPr/>
        </p:nvSpPr>
        <p:spPr>
          <a:xfrm flipH="false" flipV="false" rot="0">
            <a:off x="13739895" y="-2840311"/>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2"/>
            <a:stretch>
              <a:fillRect l="0" t="0" r="0" b="-387"/>
            </a:stretch>
          </a:blipFill>
        </p:spPr>
      </p:sp>
      <p:sp>
        <p:nvSpPr>
          <p:cNvPr name="Freeform 4" id="4"/>
          <p:cNvSpPr/>
          <p:nvPr/>
        </p:nvSpPr>
        <p:spPr>
          <a:xfrm flipH="false" flipV="false" rot="0">
            <a:off x="3496410" y="1937641"/>
            <a:ext cx="725106" cy="725106"/>
          </a:xfrm>
          <a:custGeom>
            <a:avLst/>
            <a:gdLst/>
            <a:ahLst/>
            <a:cxnLst/>
            <a:rect r="r" b="b" t="t" l="l"/>
            <a:pathLst>
              <a:path h="725106" w="725106">
                <a:moveTo>
                  <a:pt x="0" y="0"/>
                </a:moveTo>
                <a:lnTo>
                  <a:pt x="725106" y="0"/>
                </a:lnTo>
                <a:lnTo>
                  <a:pt x="725106" y="725106"/>
                </a:lnTo>
                <a:lnTo>
                  <a:pt x="0" y="7251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268240" y="5337386"/>
            <a:ext cx="1025585" cy="1025585"/>
          </a:xfrm>
          <a:custGeom>
            <a:avLst/>
            <a:gdLst/>
            <a:ahLst/>
            <a:cxnLst/>
            <a:rect r="r" b="b" t="t" l="l"/>
            <a:pathLst>
              <a:path h="1025585" w="1025585">
                <a:moveTo>
                  <a:pt x="0" y="0"/>
                </a:moveTo>
                <a:lnTo>
                  <a:pt x="1025585" y="0"/>
                </a:lnTo>
                <a:lnTo>
                  <a:pt x="1025585" y="1025585"/>
                </a:lnTo>
                <a:lnTo>
                  <a:pt x="0" y="10255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Object 6" id="6"/>
          <p:cNvGraphicFramePr/>
          <p:nvPr/>
        </p:nvGraphicFramePr>
        <p:xfrm>
          <a:off x="4429125" y="2451037"/>
          <a:ext cx="9429750" cy="3771900"/>
        </p:xfrm>
        <a:graphic>
          <a:graphicData uri="http://schemas.openxmlformats.org/presentationml/2006/ole">
            <p:oleObj imgW="11315700" imgH="56515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7" id="7"/>
          <p:cNvSpPr txBox="true"/>
          <p:nvPr/>
        </p:nvSpPr>
        <p:spPr>
          <a:xfrm rot="0">
            <a:off x="5175540" y="1447737"/>
            <a:ext cx="8115300" cy="1003300"/>
          </a:xfrm>
          <a:prstGeom prst="rect">
            <a:avLst/>
          </a:prstGeom>
        </p:spPr>
        <p:txBody>
          <a:bodyPr anchor="t" rtlCol="false" tIns="0" lIns="0" bIns="0" rIns="0">
            <a:spAutoFit/>
          </a:bodyPr>
          <a:lstStyle/>
          <a:p>
            <a:pPr algn="ctr">
              <a:lnSpc>
                <a:spcPts val="7699"/>
              </a:lnSpc>
            </a:pPr>
            <a:r>
              <a:rPr lang="en-US" sz="6999" spc="-314">
                <a:solidFill>
                  <a:srgbClr val="FDCA01"/>
                </a:solidFill>
                <a:latin typeface="JA Jayagiri Sans Rough"/>
                <a:ea typeface="JA Jayagiri Sans Rough"/>
                <a:cs typeface="JA Jayagiri Sans Rough"/>
                <a:sym typeface="JA Jayagiri Sans Rough"/>
              </a:rPr>
              <a:t>OLS vs GLS</a:t>
            </a:r>
          </a:p>
        </p:txBody>
      </p:sp>
      <p:sp>
        <p:nvSpPr>
          <p:cNvPr name="TextBox 8" id="8"/>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grpSp>
        <p:nvGrpSpPr>
          <p:cNvPr name="Group 9" id="9"/>
          <p:cNvGrpSpPr/>
          <p:nvPr/>
        </p:nvGrpSpPr>
        <p:grpSpPr>
          <a:xfrm rot="0">
            <a:off x="681261" y="6569624"/>
            <a:ext cx="4902917" cy="1988217"/>
            <a:chOff x="0" y="0"/>
            <a:chExt cx="1905494" cy="772710"/>
          </a:xfrm>
        </p:grpSpPr>
        <p:sp>
          <p:nvSpPr>
            <p:cNvPr name="Freeform 10" id="10"/>
            <p:cNvSpPr/>
            <p:nvPr/>
          </p:nvSpPr>
          <p:spPr>
            <a:xfrm flipH="false" flipV="false" rot="0">
              <a:off x="0" y="0"/>
              <a:ext cx="1905494" cy="772710"/>
            </a:xfrm>
            <a:custGeom>
              <a:avLst/>
              <a:gdLst/>
              <a:ahLst/>
              <a:cxnLst/>
              <a:rect r="r" b="b" t="t" l="l"/>
              <a:pathLst>
                <a:path h="772710" w="1905494">
                  <a:moveTo>
                    <a:pt x="80531" y="0"/>
                  </a:moveTo>
                  <a:lnTo>
                    <a:pt x="1824962" y="0"/>
                  </a:lnTo>
                  <a:cubicBezTo>
                    <a:pt x="1846321" y="0"/>
                    <a:pt x="1866804" y="8485"/>
                    <a:pt x="1881906" y="23587"/>
                  </a:cubicBezTo>
                  <a:cubicBezTo>
                    <a:pt x="1897009" y="38690"/>
                    <a:pt x="1905494" y="59173"/>
                    <a:pt x="1905494" y="80531"/>
                  </a:cubicBezTo>
                  <a:lnTo>
                    <a:pt x="1905494" y="692179"/>
                  </a:lnTo>
                  <a:cubicBezTo>
                    <a:pt x="1905494" y="713537"/>
                    <a:pt x="1897009" y="734021"/>
                    <a:pt x="1881906" y="749123"/>
                  </a:cubicBezTo>
                  <a:cubicBezTo>
                    <a:pt x="1866804" y="764226"/>
                    <a:pt x="1846321" y="772710"/>
                    <a:pt x="1824962" y="772710"/>
                  </a:cubicBezTo>
                  <a:lnTo>
                    <a:pt x="80531" y="772710"/>
                  </a:lnTo>
                  <a:cubicBezTo>
                    <a:pt x="59173" y="772710"/>
                    <a:pt x="38690" y="764226"/>
                    <a:pt x="23587" y="749123"/>
                  </a:cubicBezTo>
                  <a:cubicBezTo>
                    <a:pt x="8485" y="734021"/>
                    <a:pt x="0" y="713537"/>
                    <a:pt x="0" y="692179"/>
                  </a:cubicBezTo>
                  <a:lnTo>
                    <a:pt x="0" y="80531"/>
                  </a:lnTo>
                  <a:cubicBezTo>
                    <a:pt x="0" y="59173"/>
                    <a:pt x="8485" y="38690"/>
                    <a:pt x="23587" y="23587"/>
                  </a:cubicBezTo>
                  <a:cubicBezTo>
                    <a:pt x="38690" y="8485"/>
                    <a:pt x="59173" y="0"/>
                    <a:pt x="80531" y="0"/>
                  </a:cubicBezTo>
                  <a:close/>
                </a:path>
              </a:pathLst>
            </a:custGeom>
            <a:solidFill>
              <a:srgbClr val="FDCA01"/>
            </a:solidFill>
          </p:spPr>
        </p:sp>
        <p:sp>
          <p:nvSpPr>
            <p:cNvPr name="TextBox 11" id="11"/>
            <p:cNvSpPr txBox="true"/>
            <p:nvPr/>
          </p:nvSpPr>
          <p:spPr>
            <a:xfrm>
              <a:off x="0" y="19050"/>
              <a:ext cx="1905494" cy="753660"/>
            </a:xfrm>
            <a:prstGeom prst="rect">
              <a:avLst/>
            </a:prstGeom>
          </p:spPr>
          <p:txBody>
            <a:bodyPr anchor="ctr" rtlCol="false" tIns="50800" lIns="50800" bIns="50800" rIns="50800"/>
            <a:lstStyle/>
            <a:p>
              <a:pPr algn="ctr">
                <a:lnSpc>
                  <a:spcPts val="2445"/>
                </a:lnSpc>
              </a:pPr>
              <a:r>
                <a:rPr lang="en-US" sz="2223" spc="-100">
                  <a:solidFill>
                    <a:srgbClr val="051438"/>
                  </a:solidFill>
                  <a:latin typeface="TT Interphases"/>
                  <a:ea typeface="TT Interphases"/>
                  <a:cs typeface="TT Interphases"/>
                  <a:sym typeface="TT Interphases"/>
                </a:rPr>
                <a:t>Coefficient signs and magnitudes are </a:t>
              </a:r>
              <a:r>
                <a:rPr lang="en-US" b="true" sz="2223" spc="-100">
                  <a:solidFill>
                    <a:srgbClr val="051438"/>
                  </a:solidFill>
                  <a:latin typeface="TT Interphases Bold"/>
                  <a:ea typeface="TT Interphases Bold"/>
                  <a:cs typeface="TT Interphases Bold"/>
                  <a:sym typeface="TT Interphases Bold"/>
                </a:rPr>
                <a:t>largely consistent</a:t>
              </a:r>
              <a:r>
                <a:rPr lang="en-US" sz="2223" spc="-100">
                  <a:solidFill>
                    <a:srgbClr val="051438"/>
                  </a:solidFill>
                  <a:latin typeface="TT Interphases"/>
                  <a:ea typeface="TT Interphases"/>
                  <a:cs typeface="TT Interphases"/>
                  <a:sym typeface="TT Interphases"/>
                </a:rPr>
                <a:t> across OLS and GLS, indicating </a:t>
              </a:r>
              <a:r>
                <a:rPr lang="en-US" b="true" sz="2223" spc="-100">
                  <a:solidFill>
                    <a:srgbClr val="051438"/>
                  </a:solidFill>
                  <a:latin typeface="TT Interphases Bold"/>
                  <a:ea typeface="TT Interphases Bold"/>
                  <a:cs typeface="TT Interphases Bold"/>
                  <a:sym typeface="TT Interphases Bold"/>
                </a:rPr>
                <a:t>stable relationships </a:t>
              </a:r>
              <a:r>
                <a:rPr lang="en-US" sz="2223" spc="-100">
                  <a:solidFill>
                    <a:srgbClr val="051438"/>
                  </a:solidFill>
                  <a:latin typeface="TT Interphases"/>
                  <a:ea typeface="TT Interphases"/>
                  <a:cs typeface="TT Interphases"/>
                  <a:sym typeface="TT Interphases"/>
                </a:rPr>
                <a:t>between stress level and its predictors.</a:t>
              </a:r>
            </a:p>
          </p:txBody>
        </p:sp>
      </p:grpSp>
      <p:grpSp>
        <p:nvGrpSpPr>
          <p:cNvPr name="Group 12" id="12"/>
          <p:cNvGrpSpPr/>
          <p:nvPr/>
        </p:nvGrpSpPr>
        <p:grpSpPr>
          <a:xfrm rot="0">
            <a:off x="5942411" y="8074706"/>
            <a:ext cx="6403177" cy="1505082"/>
            <a:chOff x="0" y="0"/>
            <a:chExt cx="2488562" cy="584942"/>
          </a:xfrm>
        </p:grpSpPr>
        <p:sp>
          <p:nvSpPr>
            <p:cNvPr name="Freeform 13" id="13"/>
            <p:cNvSpPr/>
            <p:nvPr/>
          </p:nvSpPr>
          <p:spPr>
            <a:xfrm flipH="false" flipV="false" rot="0">
              <a:off x="0" y="0"/>
              <a:ext cx="2488562" cy="584942"/>
            </a:xfrm>
            <a:custGeom>
              <a:avLst/>
              <a:gdLst/>
              <a:ahLst/>
              <a:cxnLst/>
              <a:rect r="r" b="b" t="t" l="l"/>
              <a:pathLst>
                <a:path h="584942" w="2488562">
                  <a:moveTo>
                    <a:pt x="61663" y="0"/>
                  </a:moveTo>
                  <a:lnTo>
                    <a:pt x="2426899" y="0"/>
                  </a:lnTo>
                  <a:cubicBezTo>
                    <a:pt x="2443253" y="0"/>
                    <a:pt x="2458938" y="6497"/>
                    <a:pt x="2470502" y="18061"/>
                  </a:cubicBezTo>
                  <a:cubicBezTo>
                    <a:pt x="2482066" y="29625"/>
                    <a:pt x="2488562" y="45309"/>
                    <a:pt x="2488562" y="61663"/>
                  </a:cubicBezTo>
                  <a:lnTo>
                    <a:pt x="2488562" y="523280"/>
                  </a:lnTo>
                  <a:cubicBezTo>
                    <a:pt x="2488562" y="539634"/>
                    <a:pt x="2482066" y="555318"/>
                    <a:pt x="2470502" y="566882"/>
                  </a:cubicBezTo>
                  <a:cubicBezTo>
                    <a:pt x="2458938" y="578446"/>
                    <a:pt x="2443253" y="584942"/>
                    <a:pt x="2426899" y="584942"/>
                  </a:cubicBezTo>
                  <a:lnTo>
                    <a:pt x="61663" y="584942"/>
                  </a:lnTo>
                  <a:cubicBezTo>
                    <a:pt x="27607" y="584942"/>
                    <a:pt x="0" y="557335"/>
                    <a:pt x="0" y="523280"/>
                  </a:cubicBezTo>
                  <a:lnTo>
                    <a:pt x="0" y="61663"/>
                  </a:lnTo>
                  <a:cubicBezTo>
                    <a:pt x="0" y="45309"/>
                    <a:pt x="6497" y="29625"/>
                    <a:pt x="18061" y="18061"/>
                  </a:cubicBezTo>
                  <a:cubicBezTo>
                    <a:pt x="29625" y="6497"/>
                    <a:pt x="45309" y="0"/>
                    <a:pt x="61663" y="0"/>
                  </a:cubicBezTo>
                  <a:close/>
                </a:path>
              </a:pathLst>
            </a:custGeom>
            <a:solidFill>
              <a:srgbClr val="FDCA01"/>
            </a:solidFill>
          </p:spPr>
        </p:sp>
        <p:sp>
          <p:nvSpPr>
            <p:cNvPr name="TextBox 14" id="14"/>
            <p:cNvSpPr txBox="true"/>
            <p:nvPr/>
          </p:nvSpPr>
          <p:spPr>
            <a:xfrm>
              <a:off x="0" y="19050"/>
              <a:ext cx="2488562" cy="565892"/>
            </a:xfrm>
            <a:prstGeom prst="rect">
              <a:avLst/>
            </a:prstGeom>
          </p:spPr>
          <p:txBody>
            <a:bodyPr anchor="ctr" rtlCol="false" tIns="50800" lIns="50800" bIns="50800" rIns="50800"/>
            <a:lstStyle/>
            <a:p>
              <a:pPr algn="ctr">
                <a:lnSpc>
                  <a:spcPts val="2445"/>
                </a:lnSpc>
              </a:pPr>
              <a:r>
                <a:rPr lang="en-US" sz="2223" spc="-100">
                  <a:solidFill>
                    <a:srgbClr val="051438"/>
                  </a:solidFill>
                  <a:latin typeface="TT Interphases"/>
                  <a:ea typeface="TT Interphases"/>
                  <a:cs typeface="TT Interphases"/>
                  <a:sym typeface="TT Interphases"/>
                </a:rPr>
                <a:t>The</a:t>
              </a:r>
              <a:r>
                <a:rPr lang="en-US" b="true" sz="2223" spc="-100">
                  <a:solidFill>
                    <a:srgbClr val="051438"/>
                  </a:solidFill>
                  <a:latin typeface="TT Interphases Bold"/>
                  <a:ea typeface="TT Interphases Bold"/>
                  <a:cs typeface="TT Interphases Bold"/>
                  <a:sym typeface="TT Interphases Bold"/>
                </a:rPr>
                <a:t> GLS model produces smaller standard errors</a:t>
              </a:r>
              <a:r>
                <a:rPr lang="en-US" sz="2223" spc="-100">
                  <a:solidFill>
                    <a:srgbClr val="051438"/>
                  </a:solidFill>
                  <a:latin typeface="TT Interphases"/>
                  <a:ea typeface="TT Interphases"/>
                  <a:cs typeface="TT Interphases"/>
                  <a:sym typeface="TT Interphases"/>
                </a:rPr>
                <a:t> for all retained variables, reflecting</a:t>
              </a:r>
              <a:r>
                <a:rPr lang="en-US" b="true" sz="2223" spc="-100">
                  <a:solidFill>
                    <a:srgbClr val="051438"/>
                  </a:solidFill>
                  <a:latin typeface="TT Interphases Bold"/>
                  <a:ea typeface="TT Interphases Bold"/>
                  <a:cs typeface="TT Interphases Bold"/>
                  <a:sym typeface="TT Interphases Bold"/>
                </a:rPr>
                <a:t> improved estimation efficiency </a:t>
              </a:r>
              <a:r>
                <a:rPr lang="en-US" sz="2223" spc="-100">
                  <a:solidFill>
                    <a:srgbClr val="051438"/>
                  </a:solidFill>
                  <a:latin typeface="TT Interphases"/>
                  <a:ea typeface="TT Interphases"/>
                  <a:cs typeface="TT Interphases"/>
                  <a:sym typeface="TT Interphases"/>
                </a:rPr>
                <a:t>after accounting for heteroskedasticity.</a:t>
              </a:r>
            </a:p>
          </p:txBody>
        </p:sp>
      </p:grpSp>
      <p:grpSp>
        <p:nvGrpSpPr>
          <p:cNvPr name="Group 15" id="15"/>
          <p:cNvGrpSpPr/>
          <p:nvPr/>
        </p:nvGrpSpPr>
        <p:grpSpPr>
          <a:xfrm rot="0">
            <a:off x="12707539" y="6839031"/>
            <a:ext cx="4902917" cy="1988217"/>
            <a:chOff x="0" y="0"/>
            <a:chExt cx="1905494" cy="772710"/>
          </a:xfrm>
        </p:grpSpPr>
        <p:sp>
          <p:nvSpPr>
            <p:cNvPr name="Freeform 16" id="16"/>
            <p:cNvSpPr/>
            <p:nvPr/>
          </p:nvSpPr>
          <p:spPr>
            <a:xfrm flipH="false" flipV="false" rot="0">
              <a:off x="0" y="0"/>
              <a:ext cx="1905494" cy="772710"/>
            </a:xfrm>
            <a:custGeom>
              <a:avLst/>
              <a:gdLst/>
              <a:ahLst/>
              <a:cxnLst/>
              <a:rect r="r" b="b" t="t" l="l"/>
              <a:pathLst>
                <a:path h="772710" w="1905494">
                  <a:moveTo>
                    <a:pt x="80531" y="0"/>
                  </a:moveTo>
                  <a:lnTo>
                    <a:pt x="1824962" y="0"/>
                  </a:lnTo>
                  <a:cubicBezTo>
                    <a:pt x="1846321" y="0"/>
                    <a:pt x="1866804" y="8485"/>
                    <a:pt x="1881906" y="23587"/>
                  </a:cubicBezTo>
                  <a:cubicBezTo>
                    <a:pt x="1897009" y="38690"/>
                    <a:pt x="1905494" y="59173"/>
                    <a:pt x="1905494" y="80531"/>
                  </a:cubicBezTo>
                  <a:lnTo>
                    <a:pt x="1905494" y="692179"/>
                  </a:lnTo>
                  <a:cubicBezTo>
                    <a:pt x="1905494" y="713537"/>
                    <a:pt x="1897009" y="734021"/>
                    <a:pt x="1881906" y="749123"/>
                  </a:cubicBezTo>
                  <a:cubicBezTo>
                    <a:pt x="1866804" y="764226"/>
                    <a:pt x="1846321" y="772710"/>
                    <a:pt x="1824962" y="772710"/>
                  </a:cubicBezTo>
                  <a:lnTo>
                    <a:pt x="80531" y="772710"/>
                  </a:lnTo>
                  <a:cubicBezTo>
                    <a:pt x="59173" y="772710"/>
                    <a:pt x="38690" y="764226"/>
                    <a:pt x="23587" y="749123"/>
                  </a:cubicBezTo>
                  <a:cubicBezTo>
                    <a:pt x="8485" y="734021"/>
                    <a:pt x="0" y="713537"/>
                    <a:pt x="0" y="692179"/>
                  </a:cubicBezTo>
                  <a:lnTo>
                    <a:pt x="0" y="80531"/>
                  </a:lnTo>
                  <a:cubicBezTo>
                    <a:pt x="0" y="59173"/>
                    <a:pt x="8485" y="38690"/>
                    <a:pt x="23587" y="23587"/>
                  </a:cubicBezTo>
                  <a:cubicBezTo>
                    <a:pt x="38690" y="8485"/>
                    <a:pt x="59173" y="0"/>
                    <a:pt x="80531" y="0"/>
                  </a:cubicBezTo>
                  <a:close/>
                </a:path>
              </a:pathLst>
            </a:custGeom>
            <a:solidFill>
              <a:srgbClr val="FDCA01"/>
            </a:solidFill>
          </p:spPr>
        </p:sp>
        <p:sp>
          <p:nvSpPr>
            <p:cNvPr name="TextBox 17" id="17"/>
            <p:cNvSpPr txBox="true"/>
            <p:nvPr/>
          </p:nvSpPr>
          <p:spPr>
            <a:xfrm>
              <a:off x="0" y="19050"/>
              <a:ext cx="1905494" cy="753660"/>
            </a:xfrm>
            <a:prstGeom prst="rect">
              <a:avLst/>
            </a:prstGeom>
          </p:spPr>
          <p:txBody>
            <a:bodyPr anchor="ctr" rtlCol="false" tIns="50800" lIns="50800" bIns="50800" rIns="50800"/>
            <a:lstStyle/>
            <a:p>
              <a:pPr algn="ctr">
                <a:lnSpc>
                  <a:spcPts val="2445"/>
                </a:lnSpc>
              </a:pPr>
              <a:r>
                <a:rPr lang="en-US" sz="2223" spc="-100">
                  <a:solidFill>
                    <a:srgbClr val="051438"/>
                  </a:solidFill>
                  <a:latin typeface="TT Interphases"/>
                  <a:ea typeface="TT Interphases"/>
                  <a:cs typeface="TT Interphases"/>
                  <a:sym typeface="TT Interphases"/>
                </a:rPr>
                <a:t>All key predictors remain </a:t>
              </a:r>
              <a:r>
                <a:rPr lang="en-US" b="true" sz="2223" spc="-100">
                  <a:solidFill>
                    <a:srgbClr val="051438"/>
                  </a:solidFill>
                  <a:latin typeface="TT Interphases Bold"/>
                  <a:ea typeface="TT Interphases Bold"/>
                  <a:cs typeface="TT Interphases Bold"/>
                  <a:sym typeface="TT Interphases Bold"/>
                </a:rPr>
                <a:t>statistically significant</a:t>
              </a:r>
              <a:r>
                <a:rPr lang="en-US" sz="2223" spc="-100">
                  <a:solidFill>
                    <a:srgbClr val="051438"/>
                  </a:solidFill>
                  <a:latin typeface="TT Interphases"/>
                  <a:ea typeface="TT Interphases"/>
                  <a:cs typeface="TT Interphases"/>
                  <a:sym typeface="TT Interphases"/>
                </a:rPr>
                <a:t>, confirming the r</a:t>
              </a:r>
              <a:r>
                <a:rPr lang="en-US" b="true" sz="2223" spc="-100">
                  <a:solidFill>
                    <a:srgbClr val="051438"/>
                  </a:solidFill>
                  <a:latin typeface="TT Interphases Bold"/>
                  <a:ea typeface="TT Interphases Bold"/>
                  <a:cs typeface="TT Interphases Bold"/>
                  <a:sym typeface="TT Interphases Bold"/>
                </a:rPr>
                <a:t>obustness of the results</a:t>
              </a:r>
              <a:r>
                <a:rPr lang="en-US" sz="2223" spc="-100">
                  <a:solidFill>
                    <a:srgbClr val="051438"/>
                  </a:solidFill>
                  <a:latin typeface="TT Interphases"/>
                  <a:ea typeface="TT Interphases"/>
                  <a:cs typeface="TT Interphases"/>
                  <a:sym typeface="TT Interphases"/>
                </a:rPr>
                <a:t>.</a:t>
              </a:r>
            </a:p>
          </p:txBody>
        </p:sp>
      </p:grpSp>
      <p:sp>
        <p:nvSpPr>
          <p:cNvPr name="Freeform 18" id="18"/>
          <p:cNvSpPr/>
          <p:nvPr/>
        </p:nvSpPr>
        <p:spPr>
          <a:xfrm flipH="false" flipV="false" rot="0">
            <a:off x="-605740" y="2789441"/>
            <a:ext cx="4386752" cy="3573530"/>
          </a:xfrm>
          <a:custGeom>
            <a:avLst/>
            <a:gdLst/>
            <a:ahLst/>
            <a:cxnLst/>
            <a:rect r="r" b="b" t="t" l="l"/>
            <a:pathLst>
              <a:path h="3573530" w="4386752">
                <a:moveTo>
                  <a:pt x="0" y="0"/>
                </a:moveTo>
                <a:lnTo>
                  <a:pt x="4386753" y="0"/>
                </a:lnTo>
                <a:lnTo>
                  <a:pt x="4386753" y="3573530"/>
                </a:lnTo>
                <a:lnTo>
                  <a:pt x="0" y="35735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5158997" y="3028018"/>
            <a:ext cx="3129003" cy="3334953"/>
          </a:xfrm>
          <a:custGeom>
            <a:avLst/>
            <a:gdLst/>
            <a:ahLst/>
            <a:cxnLst/>
            <a:rect r="r" b="b" t="t" l="l"/>
            <a:pathLst>
              <a:path h="3334953" w="3129003">
                <a:moveTo>
                  <a:pt x="0" y="0"/>
                </a:moveTo>
                <a:lnTo>
                  <a:pt x="3129003" y="0"/>
                </a:lnTo>
                <a:lnTo>
                  <a:pt x="3129003" y="3334953"/>
                </a:lnTo>
                <a:lnTo>
                  <a:pt x="0" y="33349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824301" y="7156988"/>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2"/>
            <a:stretch>
              <a:fillRect l="0" t="0" r="0" b="-387"/>
            </a:stretch>
          </a:blipFill>
        </p:spPr>
      </p:sp>
      <p:sp>
        <p:nvSpPr>
          <p:cNvPr name="Freeform 3" id="3"/>
          <p:cNvSpPr/>
          <p:nvPr/>
        </p:nvSpPr>
        <p:spPr>
          <a:xfrm flipH="false" flipV="false" rot="0">
            <a:off x="13739895" y="-2840311"/>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2"/>
            <a:stretch>
              <a:fillRect l="0" t="0" r="0" b="-387"/>
            </a:stretch>
          </a:blipFill>
        </p:spPr>
      </p:sp>
      <p:sp>
        <p:nvSpPr>
          <p:cNvPr name="Freeform 4" id="4"/>
          <p:cNvSpPr/>
          <p:nvPr/>
        </p:nvSpPr>
        <p:spPr>
          <a:xfrm flipH="false" flipV="false" rot="0">
            <a:off x="14028168" y="6550832"/>
            <a:ext cx="4259832" cy="3767772"/>
          </a:xfrm>
          <a:custGeom>
            <a:avLst/>
            <a:gdLst/>
            <a:ahLst/>
            <a:cxnLst/>
            <a:rect r="r" b="b" t="t" l="l"/>
            <a:pathLst>
              <a:path h="3767772" w="4259832">
                <a:moveTo>
                  <a:pt x="0" y="0"/>
                </a:moveTo>
                <a:lnTo>
                  <a:pt x="4259832" y="0"/>
                </a:lnTo>
                <a:lnTo>
                  <a:pt x="4259832" y="3767772"/>
                </a:lnTo>
                <a:lnTo>
                  <a:pt x="0" y="3767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75540" y="1447737"/>
            <a:ext cx="8115300" cy="1003300"/>
          </a:xfrm>
          <a:prstGeom prst="rect">
            <a:avLst/>
          </a:prstGeom>
        </p:spPr>
        <p:txBody>
          <a:bodyPr anchor="t" rtlCol="false" tIns="0" lIns="0" bIns="0" rIns="0">
            <a:spAutoFit/>
          </a:bodyPr>
          <a:lstStyle/>
          <a:p>
            <a:pPr algn="ctr">
              <a:lnSpc>
                <a:spcPts val="7699"/>
              </a:lnSpc>
            </a:pPr>
            <a:r>
              <a:rPr lang="en-US" sz="6999" spc="-314">
                <a:solidFill>
                  <a:srgbClr val="FDCA01"/>
                </a:solidFill>
                <a:latin typeface="JA Jayagiri Sans Rough"/>
                <a:ea typeface="JA Jayagiri Sans Rough"/>
                <a:cs typeface="JA Jayagiri Sans Rough"/>
                <a:sym typeface="JA Jayagiri Sans Rough"/>
              </a:rPr>
              <a:t>Conclusion</a:t>
            </a:r>
          </a:p>
        </p:txBody>
      </p:sp>
      <p:sp>
        <p:nvSpPr>
          <p:cNvPr name="Freeform 6" id="6"/>
          <p:cNvSpPr/>
          <p:nvPr/>
        </p:nvSpPr>
        <p:spPr>
          <a:xfrm flipH="false" flipV="false" rot="0">
            <a:off x="2904576" y="1575088"/>
            <a:ext cx="725106" cy="725106"/>
          </a:xfrm>
          <a:custGeom>
            <a:avLst/>
            <a:gdLst/>
            <a:ahLst/>
            <a:cxnLst/>
            <a:rect r="r" b="b" t="t" l="l"/>
            <a:pathLst>
              <a:path h="725106" w="725106">
                <a:moveTo>
                  <a:pt x="0" y="0"/>
                </a:moveTo>
                <a:lnTo>
                  <a:pt x="725106" y="0"/>
                </a:lnTo>
                <a:lnTo>
                  <a:pt x="725106" y="725106"/>
                </a:lnTo>
                <a:lnTo>
                  <a:pt x="0" y="7251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5583049" y="1787402"/>
            <a:ext cx="1025585" cy="1025585"/>
          </a:xfrm>
          <a:custGeom>
            <a:avLst/>
            <a:gdLst/>
            <a:ahLst/>
            <a:cxnLst/>
            <a:rect r="r" b="b" t="t" l="l"/>
            <a:pathLst>
              <a:path h="1025585" w="1025585">
                <a:moveTo>
                  <a:pt x="0" y="0"/>
                </a:moveTo>
                <a:lnTo>
                  <a:pt x="1025585" y="0"/>
                </a:lnTo>
                <a:lnTo>
                  <a:pt x="1025585" y="1025585"/>
                </a:lnTo>
                <a:lnTo>
                  <a:pt x="0" y="10255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419675" y="7653397"/>
            <a:ext cx="969803" cy="969803"/>
          </a:xfrm>
          <a:custGeom>
            <a:avLst/>
            <a:gdLst/>
            <a:ahLst/>
            <a:cxnLst/>
            <a:rect r="r" b="b" t="t" l="l"/>
            <a:pathLst>
              <a:path h="969803" w="969803">
                <a:moveTo>
                  <a:pt x="0" y="0"/>
                </a:moveTo>
                <a:lnTo>
                  <a:pt x="969802" y="0"/>
                </a:lnTo>
                <a:lnTo>
                  <a:pt x="969802" y="969803"/>
                </a:lnTo>
                <a:lnTo>
                  <a:pt x="0" y="9698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10800000">
            <a:off x="1600200" y="2097898"/>
            <a:ext cx="1002369" cy="404593"/>
          </a:xfrm>
          <a:custGeom>
            <a:avLst/>
            <a:gdLst/>
            <a:ahLst/>
            <a:cxnLst/>
            <a:rect r="r" b="b" t="t" l="l"/>
            <a:pathLst>
              <a:path h="404593" w="1002369">
                <a:moveTo>
                  <a:pt x="0" y="0"/>
                </a:moveTo>
                <a:lnTo>
                  <a:pt x="1002369" y="0"/>
                </a:lnTo>
                <a:lnTo>
                  <a:pt x="1002369" y="404593"/>
                </a:lnTo>
                <a:lnTo>
                  <a:pt x="0" y="4045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sp>
        <p:nvSpPr>
          <p:cNvPr name="TextBox 11" id="11"/>
          <p:cNvSpPr txBox="true"/>
          <p:nvPr/>
        </p:nvSpPr>
        <p:spPr>
          <a:xfrm rot="0">
            <a:off x="2873424" y="3175429"/>
            <a:ext cx="12541153" cy="3285741"/>
          </a:xfrm>
          <a:prstGeom prst="rect">
            <a:avLst/>
          </a:prstGeom>
        </p:spPr>
        <p:txBody>
          <a:bodyPr anchor="t" rtlCol="false" tIns="0" lIns="0" bIns="0" rIns="0">
            <a:spAutoFit/>
          </a:bodyPr>
          <a:lstStyle/>
          <a:p>
            <a:pPr algn="just">
              <a:lnSpc>
                <a:spcPts val="3266"/>
              </a:lnSpc>
              <a:spcBef>
                <a:spcPct val="0"/>
              </a:spcBef>
            </a:pPr>
            <a:r>
              <a:rPr lang="en-US" sz="2969" spc="-133">
                <a:solidFill>
                  <a:srgbClr val="FFFFFF"/>
                </a:solidFill>
                <a:latin typeface="TT Interphases"/>
                <a:ea typeface="TT Interphases"/>
                <a:cs typeface="TT Interphases"/>
                <a:sym typeface="TT Interphases"/>
              </a:rPr>
              <a:t>This study analyzes the effects of </a:t>
            </a:r>
            <a:r>
              <a:rPr lang="en-US" b="true" sz="2969" spc="-133">
                <a:solidFill>
                  <a:srgbClr val="FFFFFF"/>
                </a:solidFill>
                <a:latin typeface="TT Interphases Bold"/>
                <a:ea typeface="TT Interphases Bold"/>
                <a:cs typeface="TT Interphases Bold"/>
                <a:sym typeface="TT Interphases Bold"/>
              </a:rPr>
              <a:t>sleep quality</a:t>
            </a:r>
            <a:r>
              <a:rPr lang="en-US" sz="2969" spc="-133">
                <a:solidFill>
                  <a:srgbClr val="FFFFFF"/>
                </a:solidFill>
                <a:latin typeface="TT Interphases"/>
                <a:ea typeface="TT Interphases"/>
                <a:cs typeface="TT Interphases"/>
                <a:sym typeface="TT Interphases"/>
              </a:rPr>
              <a:t>, </a:t>
            </a:r>
            <a:r>
              <a:rPr lang="en-US" b="true" sz="2969" spc="-133">
                <a:solidFill>
                  <a:srgbClr val="FFFFFF"/>
                </a:solidFill>
                <a:latin typeface="TT Interphases Bold"/>
                <a:ea typeface="TT Interphases Bold"/>
                <a:cs typeface="TT Interphases Bold"/>
                <a:sym typeface="TT Interphases Bold"/>
              </a:rPr>
              <a:t>productivity</a:t>
            </a:r>
            <a:r>
              <a:rPr lang="en-US" sz="2969" spc="-133">
                <a:solidFill>
                  <a:srgbClr val="FFFFFF"/>
                </a:solidFill>
                <a:latin typeface="TT Interphases"/>
                <a:ea typeface="TT Interphases"/>
                <a:cs typeface="TT Interphases"/>
                <a:sym typeface="TT Interphases"/>
              </a:rPr>
              <a:t>, and </a:t>
            </a:r>
            <a:r>
              <a:rPr lang="en-US" b="true" sz="2969" spc="-133">
                <a:solidFill>
                  <a:srgbClr val="FFFFFF"/>
                </a:solidFill>
                <a:latin typeface="TT Interphases Bold"/>
                <a:ea typeface="TT Interphases Bold"/>
                <a:cs typeface="TT Interphases Bold"/>
                <a:sym typeface="TT Interphases Bold"/>
              </a:rPr>
              <a:t>mental wellness</a:t>
            </a:r>
            <a:r>
              <a:rPr lang="en-US" sz="2969" spc="-133">
                <a:solidFill>
                  <a:srgbClr val="FFFFFF"/>
                </a:solidFill>
                <a:latin typeface="TT Interphases"/>
                <a:ea typeface="TT Interphases"/>
                <a:cs typeface="TT Interphases"/>
                <a:sym typeface="TT Interphases"/>
              </a:rPr>
              <a:t> on </a:t>
            </a:r>
            <a:r>
              <a:rPr lang="en-US" b="true" sz="2969" spc="-133">
                <a:solidFill>
                  <a:srgbClr val="FFFFFF"/>
                </a:solidFill>
                <a:latin typeface="TT Interphases Bold"/>
                <a:ea typeface="TT Interphases Bold"/>
                <a:cs typeface="TT Interphases Bold"/>
                <a:sym typeface="TT Interphases Bold"/>
              </a:rPr>
              <a:t>stress levels </a:t>
            </a:r>
            <a:r>
              <a:rPr lang="en-US" sz="2969" spc="-133">
                <a:solidFill>
                  <a:srgbClr val="FFFFFF"/>
                </a:solidFill>
                <a:latin typeface="TT Interphases"/>
                <a:ea typeface="TT Interphases"/>
                <a:cs typeface="TT Interphases"/>
                <a:sym typeface="TT Interphases"/>
              </a:rPr>
              <a:t>among </a:t>
            </a:r>
            <a:r>
              <a:rPr lang="en-US" b="true" sz="2969" spc="-133">
                <a:solidFill>
                  <a:srgbClr val="FFFFFF"/>
                </a:solidFill>
                <a:latin typeface="TT Interphases Bold"/>
                <a:ea typeface="TT Interphases Bold"/>
                <a:cs typeface="TT Interphases Bold"/>
                <a:sym typeface="TT Interphases Bold"/>
              </a:rPr>
              <a:t>employed and self-employed</a:t>
            </a:r>
            <a:r>
              <a:rPr lang="en-US" sz="2969" spc="-133">
                <a:solidFill>
                  <a:srgbClr val="FFFFFF"/>
                </a:solidFill>
                <a:latin typeface="TT Interphases"/>
                <a:ea typeface="TT Interphases"/>
                <a:cs typeface="TT Interphases"/>
                <a:sym typeface="TT Interphases"/>
              </a:rPr>
              <a:t> individuals. The results show that a</a:t>
            </a:r>
            <a:r>
              <a:rPr lang="en-US" b="true" sz="2969" spc="-133">
                <a:solidFill>
                  <a:srgbClr val="FFFFFF"/>
                </a:solidFill>
                <a:latin typeface="TT Interphases Bold"/>
                <a:ea typeface="TT Interphases Bold"/>
                <a:cs typeface="TT Interphases Bold"/>
                <a:sym typeface="TT Interphases Bold"/>
              </a:rPr>
              <a:t>ll three variables significantly influence stress</a:t>
            </a:r>
            <a:r>
              <a:rPr lang="en-US" sz="2969" spc="-133">
                <a:solidFill>
                  <a:srgbClr val="FFFFFF"/>
                </a:solidFill>
                <a:latin typeface="TT Interphases"/>
                <a:ea typeface="TT Interphases"/>
                <a:cs typeface="TT Interphases"/>
                <a:sym typeface="TT Interphases"/>
              </a:rPr>
              <a:t>, with </a:t>
            </a:r>
            <a:r>
              <a:rPr lang="en-US" b="true" sz="2969" spc="-133">
                <a:solidFill>
                  <a:srgbClr val="FFFFFF"/>
                </a:solidFill>
                <a:latin typeface="TT Interphases Bold"/>
                <a:ea typeface="TT Interphases Bold"/>
                <a:cs typeface="TT Interphases Bold"/>
                <a:sym typeface="TT Interphases Bold"/>
              </a:rPr>
              <a:t>mental wellness</a:t>
            </a:r>
            <a:r>
              <a:rPr lang="en-US" sz="2969" spc="-133">
                <a:solidFill>
                  <a:srgbClr val="FFFFFF"/>
                </a:solidFill>
                <a:latin typeface="TT Interphases"/>
                <a:ea typeface="TT Interphases"/>
                <a:cs typeface="TT Interphases"/>
                <a:sym typeface="TT Interphases"/>
              </a:rPr>
              <a:t> having the </a:t>
            </a:r>
            <a:r>
              <a:rPr lang="en-US" b="true" sz="2969" spc="-133">
                <a:solidFill>
                  <a:srgbClr val="FFFFFF"/>
                </a:solidFill>
                <a:latin typeface="TT Interphases Bold"/>
                <a:ea typeface="TT Interphases Bold"/>
                <a:cs typeface="TT Interphases Bold"/>
                <a:sym typeface="TT Interphases Bold"/>
              </a:rPr>
              <a:t>strongest impact</a:t>
            </a:r>
            <a:r>
              <a:rPr lang="en-US" sz="2969" spc="-133">
                <a:solidFill>
                  <a:srgbClr val="FFFFFF"/>
                </a:solidFill>
                <a:latin typeface="TT Interphases"/>
                <a:ea typeface="TT Interphases"/>
                <a:cs typeface="TT Interphases"/>
                <a:sym typeface="TT Interphases"/>
              </a:rPr>
              <a:t>, followed by sleep quality and productivity. The OLS model violates the homoscedasticity assumption, leading to </a:t>
            </a:r>
            <a:r>
              <a:rPr lang="en-US" b="true" sz="2969" spc="-133">
                <a:solidFill>
                  <a:srgbClr val="FFFFFF"/>
                </a:solidFill>
                <a:latin typeface="TT Interphases Bold"/>
                <a:ea typeface="TT Interphases Bold"/>
                <a:cs typeface="TT Interphases Bold"/>
                <a:sym typeface="TT Interphases Bold"/>
              </a:rPr>
              <a:t>inefficient estimates</a:t>
            </a:r>
            <a:r>
              <a:rPr lang="en-US" sz="2969" spc="-133">
                <a:solidFill>
                  <a:srgbClr val="FFFFFF"/>
                </a:solidFill>
                <a:latin typeface="TT Interphases"/>
                <a:ea typeface="TT Interphases"/>
                <a:cs typeface="TT Interphases"/>
                <a:sym typeface="TT Interphases"/>
              </a:rPr>
              <a:t>, while the GLS approach corrects this issue and provides </a:t>
            </a:r>
            <a:r>
              <a:rPr lang="en-US" b="true" sz="2969" spc="-133">
                <a:solidFill>
                  <a:srgbClr val="FFFFFF"/>
                </a:solidFill>
                <a:latin typeface="TT Interphases Bold"/>
                <a:ea typeface="TT Interphases Bold"/>
                <a:cs typeface="TT Interphases Bold"/>
                <a:sym typeface="TT Interphases Bold"/>
              </a:rPr>
              <a:t>more efficient and reliable parameter estimates</a:t>
            </a:r>
            <a:r>
              <a:rPr lang="en-US" sz="2969" spc="-133">
                <a:solidFill>
                  <a:srgbClr val="FFFFFF"/>
                </a:solidFill>
                <a:latin typeface="TT Interphases"/>
                <a:ea typeface="TT Interphases"/>
                <a:cs typeface="TT Interphases"/>
                <a:sym typeface="TT Interphases"/>
              </a:rPr>
              <a:t>. Therefore, </a:t>
            </a:r>
            <a:r>
              <a:rPr lang="en-US" b="true" sz="2969" spc="-133">
                <a:solidFill>
                  <a:srgbClr val="FFFFFF"/>
                </a:solidFill>
                <a:latin typeface="TT Interphases Bold"/>
                <a:ea typeface="TT Interphases Bold"/>
                <a:cs typeface="TT Interphases Bold"/>
                <a:sym typeface="TT Interphases Bold"/>
              </a:rPr>
              <a:t>GLS is considered the preferred method</a:t>
            </a:r>
            <a:r>
              <a:rPr lang="en-US" sz="2969" spc="-133">
                <a:solidFill>
                  <a:srgbClr val="FFFFFF"/>
                </a:solidFill>
                <a:latin typeface="TT Interphases"/>
                <a:ea typeface="TT Interphases"/>
                <a:cs typeface="TT Interphases"/>
                <a:sym typeface="TT Interphases"/>
              </a:rPr>
              <a:t> for analyzing stress-related data in the presence of </a:t>
            </a:r>
            <a:r>
              <a:rPr lang="en-US" b="true" sz="2969" spc="-133">
                <a:solidFill>
                  <a:srgbClr val="FFFFFF"/>
                </a:solidFill>
                <a:latin typeface="TT Interphases Bold"/>
                <a:ea typeface="TT Interphases Bold"/>
                <a:cs typeface="TT Interphases Bold"/>
                <a:sym typeface="TT Interphases Bold"/>
              </a:rPr>
              <a:t>heteroskedasticity</a:t>
            </a:r>
            <a:r>
              <a:rPr lang="en-US" sz="2969" spc="-133">
                <a:solidFill>
                  <a:srgbClr val="FFFFFF"/>
                </a:solidFill>
                <a:latin typeface="TT Interphases"/>
                <a:ea typeface="TT Interphases"/>
                <a:cs typeface="TT Interphases"/>
                <a:sym typeface="TT Interphases"/>
              </a:rPr>
              <a: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1824301" y="7156988"/>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2"/>
            <a:stretch>
              <a:fillRect l="0" t="0" r="0" b="-387"/>
            </a:stretch>
          </a:blipFill>
        </p:spPr>
      </p:sp>
      <p:sp>
        <p:nvSpPr>
          <p:cNvPr name="Freeform 3" id="3"/>
          <p:cNvSpPr/>
          <p:nvPr/>
        </p:nvSpPr>
        <p:spPr>
          <a:xfrm flipH="false" flipV="false" rot="0">
            <a:off x="13739895" y="-2840311"/>
            <a:ext cx="7038810" cy="6323233"/>
          </a:xfrm>
          <a:custGeom>
            <a:avLst/>
            <a:gdLst/>
            <a:ahLst/>
            <a:cxnLst/>
            <a:rect r="r" b="b" t="t" l="l"/>
            <a:pathLst>
              <a:path h="6323233" w="7038810">
                <a:moveTo>
                  <a:pt x="0" y="0"/>
                </a:moveTo>
                <a:lnTo>
                  <a:pt x="7038810" y="0"/>
                </a:lnTo>
                <a:lnTo>
                  <a:pt x="7038810" y="6323233"/>
                </a:lnTo>
                <a:lnTo>
                  <a:pt x="0" y="6323233"/>
                </a:lnTo>
                <a:lnTo>
                  <a:pt x="0" y="0"/>
                </a:lnTo>
                <a:close/>
              </a:path>
            </a:pathLst>
          </a:custGeom>
          <a:blipFill>
            <a:blip r:embed="rId2"/>
            <a:stretch>
              <a:fillRect l="0" t="0" r="0" b="-387"/>
            </a:stretch>
          </a:blipFill>
        </p:spPr>
      </p:sp>
      <p:sp>
        <p:nvSpPr>
          <p:cNvPr name="Freeform 4" id="4"/>
          <p:cNvSpPr/>
          <p:nvPr/>
        </p:nvSpPr>
        <p:spPr>
          <a:xfrm flipH="false" flipV="false" rot="0">
            <a:off x="14028168" y="6550832"/>
            <a:ext cx="4259832" cy="3767772"/>
          </a:xfrm>
          <a:custGeom>
            <a:avLst/>
            <a:gdLst/>
            <a:ahLst/>
            <a:cxnLst/>
            <a:rect r="r" b="b" t="t" l="l"/>
            <a:pathLst>
              <a:path h="3767772" w="4259832">
                <a:moveTo>
                  <a:pt x="0" y="0"/>
                </a:moveTo>
                <a:lnTo>
                  <a:pt x="4259832" y="0"/>
                </a:lnTo>
                <a:lnTo>
                  <a:pt x="4259832" y="3767772"/>
                </a:lnTo>
                <a:lnTo>
                  <a:pt x="0" y="3767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086350" y="2870137"/>
            <a:ext cx="8115300" cy="1974814"/>
          </a:xfrm>
          <a:prstGeom prst="rect">
            <a:avLst/>
          </a:prstGeom>
        </p:spPr>
        <p:txBody>
          <a:bodyPr anchor="t" rtlCol="false" tIns="0" lIns="0" bIns="0" rIns="0">
            <a:spAutoFit/>
          </a:bodyPr>
          <a:lstStyle/>
          <a:p>
            <a:pPr algn="ctr">
              <a:lnSpc>
                <a:spcPts val="7699"/>
              </a:lnSpc>
            </a:pPr>
            <a:r>
              <a:rPr lang="en-US" sz="6999" spc="-314">
                <a:solidFill>
                  <a:srgbClr val="FDCA01"/>
                </a:solidFill>
                <a:latin typeface="JA Jayagiri Sans Rough"/>
                <a:ea typeface="JA Jayagiri Sans Rough"/>
                <a:cs typeface="JA Jayagiri Sans Rough"/>
                <a:sym typeface="JA Jayagiri Sans Rough"/>
              </a:rPr>
              <a:t>Link Explanation Video</a:t>
            </a:r>
          </a:p>
        </p:txBody>
      </p:sp>
      <p:sp>
        <p:nvSpPr>
          <p:cNvPr name="Freeform 6" id="6"/>
          <p:cNvSpPr/>
          <p:nvPr/>
        </p:nvSpPr>
        <p:spPr>
          <a:xfrm flipH="false" flipV="false" rot="0">
            <a:off x="2904576" y="1575088"/>
            <a:ext cx="725106" cy="725106"/>
          </a:xfrm>
          <a:custGeom>
            <a:avLst/>
            <a:gdLst/>
            <a:ahLst/>
            <a:cxnLst/>
            <a:rect r="r" b="b" t="t" l="l"/>
            <a:pathLst>
              <a:path h="725106" w="725106">
                <a:moveTo>
                  <a:pt x="0" y="0"/>
                </a:moveTo>
                <a:lnTo>
                  <a:pt x="725106" y="0"/>
                </a:lnTo>
                <a:lnTo>
                  <a:pt x="725106" y="725106"/>
                </a:lnTo>
                <a:lnTo>
                  <a:pt x="0" y="7251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5583049" y="1787402"/>
            <a:ext cx="1025585" cy="1025585"/>
          </a:xfrm>
          <a:custGeom>
            <a:avLst/>
            <a:gdLst/>
            <a:ahLst/>
            <a:cxnLst/>
            <a:rect r="r" b="b" t="t" l="l"/>
            <a:pathLst>
              <a:path h="1025585" w="1025585">
                <a:moveTo>
                  <a:pt x="0" y="0"/>
                </a:moveTo>
                <a:lnTo>
                  <a:pt x="1025585" y="0"/>
                </a:lnTo>
                <a:lnTo>
                  <a:pt x="1025585" y="1025585"/>
                </a:lnTo>
                <a:lnTo>
                  <a:pt x="0" y="10255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419675" y="7653397"/>
            <a:ext cx="969803" cy="969803"/>
          </a:xfrm>
          <a:custGeom>
            <a:avLst/>
            <a:gdLst/>
            <a:ahLst/>
            <a:cxnLst/>
            <a:rect r="r" b="b" t="t" l="l"/>
            <a:pathLst>
              <a:path h="969803" w="969803">
                <a:moveTo>
                  <a:pt x="0" y="0"/>
                </a:moveTo>
                <a:lnTo>
                  <a:pt x="969802" y="0"/>
                </a:lnTo>
                <a:lnTo>
                  <a:pt x="969802" y="969803"/>
                </a:lnTo>
                <a:lnTo>
                  <a:pt x="0" y="9698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10800000">
            <a:off x="1600200" y="2097898"/>
            <a:ext cx="1002369" cy="404593"/>
          </a:xfrm>
          <a:custGeom>
            <a:avLst/>
            <a:gdLst/>
            <a:ahLst/>
            <a:cxnLst/>
            <a:rect r="r" b="b" t="t" l="l"/>
            <a:pathLst>
              <a:path h="404593" w="1002369">
                <a:moveTo>
                  <a:pt x="0" y="0"/>
                </a:moveTo>
                <a:lnTo>
                  <a:pt x="1002369" y="0"/>
                </a:lnTo>
                <a:lnTo>
                  <a:pt x="1002369" y="404593"/>
                </a:lnTo>
                <a:lnTo>
                  <a:pt x="0" y="4045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587637" y="1088943"/>
            <a:ext cx="2633879" cy="313990"/>
          </a:xfrm>
          <a:prstGeom prst="rect">
            <a:avLst/>
          </a:prstGeom>
        </p:spPr>
        <p:txBody>
          <a:bodyPr anchor="t" rtlCol="false" tIns="0" lIns="0" bIns="0" rIns="0">
            <a:spAutoFit/>
          </a:bodyPr>
          <a:lstStyle/>
          <a:p>
            <a:pPr algn="l">
              <a:lnSpc>
                <a:spcPts val="2445"/>
              </a:lnSpc>
            </a:pPr>
            <a:r>
              <a:rPr lang="en-US" sz="2223" spc="-100">
                <a:solidFill>
                  <a:srgbClr val="F2EFE4"/>
                </a:solidFill>
                <a:latin typeface="TT Interphases"/>
                <a:ea typeface="TT Interphases"/>
                <a:cs typeface="TT Interphases"/>
                <a:sym typeface="TT Interphases"/>
              </a:rPr>
              <a:t>Group 5 LA06</a:t>
            </a:r>
          </a:p>
        </p:txBody>
      </p:sp>
      <p:sp>
        <p:nvSpPr>
          <p:cNvPr name="TextBox 11" id="11"/>
          <p:cNvSpPr txBox="true"/>
          <p:nvPr/>
        </p:nvSpPr>
        <p:spPr>
          <a:xfrm rot="0">
            <a:off x="4368607" y="5172075"/>
            <a:ext cx="9550786" cy="828327"/>
          </a:xfrm>
          <a:prstGeom prst="rect">
            <a:avLst/>
          </a:prstGeom>
        </p:spPr>
        <p:txBody>
          <a:bodyPr anchor="t" rtlCol="false" tIns="0" lIns="0" bIns="0" rIns="0">
            <a:spAutoFit/>
          </a:bodyPr>
          <a:lstStyle/>
          <a:p>
            <a:pPr algn="ctr">
              <a:lnSpc>
                <a:spcPts val="3266"/>
              </a:lnSpc>
              <a:spcBef>
                <a:spcPct val="0"/>
              </a:spcBef>
            </a:pPr>
            <a:r>
              <a:rPr lang="en-US" sz="2969" spc="-133" u="sng">
                <a:solidFill>
                  <a:srgbClr val="FFFFFF"/>
                </a:solidFill>
                <a:latin typeface="TT Interphases"/>
                <a:ea typeface="TT Interphases"/>
                <a:cs typeface="TT Interphases"/>
                <a:sym typeface="TT Interphases"/>
                <a:hlinkClick r:id="rId9" tooltip="https://drive.google.com/file/d/1xoZnNJ4jH7Ubftn0Pghi_bOro5qM-Y88/view?usp=sharing"/>
              </a:rPr>
              <a:t>https://drive.google.com/file/d/1xoZnNJ4jH7Ubftn0Pghi_bOro5qM-Y88/view?usp=sharing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81A46"/>
        </a:solidFill>
      </p:bgPr>
    </p:bg>
    <p:spTree>
      <p:nvGrpSpPr>
        <p:cNvPr id="1" name=""/>
        <p:cNvGrpSpPr/>
        <p:nvPr/>
      </p:nvGrpSpPr>
      <p:grpSpPr>
        <a:xfrm>
          <a:off x="0" y="0"/>
          <a:ext cx="0" cy="0"/>
          <a:chOff x="0" y="0"/>
          <a:chExt cx="0" cy="0"/>
        </a:xfrm>
      </p:grpSpPr>
      <p:sp>
        <p:nvSpPr>
          <p:cNvPr name="Freeform 2" id="2"/>
          <p:cNvSpPr/>
          <p:nvPr/>
        </p:nvSpPr>
        <p:spPr>
          <a:xfrm flipH="false" flipV="false" rot="0">
            <a:off x="565608" y="-1138286"/>
            <a:ext cx="6259109" cy="5098787"/>
          </a:xfrm>
          <a:custGeom>
            <a:avLst/>
            <a:gdLst/>
            <a:ahLst/>
            <a:cxnLst/>
            <a:rect r="r" b="b" t="t" l="l"/>
            <a:pathLst>
              <a:path h="5098787" w="6259109">
                <a:moveTo>
                  <a:pt x="0" y="0"/>
                </a:moveTo>
                <a:lnTo>
                  <a:pt x="6259109" y="0"/>
                </a:lnTo>
                <a:lnTo>
                  <a:pt x="6259109" y="5098787"/>
                </a:lnTo>
                <a:lnTo>
                  <a:pt x="0" y="5098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721306" y="720806"/>
            <a:ext cx="8845389" cy="8845389"/>
          </a:xfrm>
          <a:custGeom>
            <a:avLst/>
            <a:gdLst/>
            <a:ahLst/>
            <a:cxnLst/>
            <a:rect r="r" b="b" t="t" l="l"/>
            <a:pathLst>
              <a:path h="8845389" w="8845389">
                <a:moveTo>
                  <a:pt x="0" y="0"/>
                </a:moveTo>
                <a:lnTo>
                  <a:pt x="8845388" y="0"/>
                </a:lnTo>
                <a:lnTo>
                  <a:pt x="8845388" y="8845388"/>
                </a:lnTo>
                <a:lnTo>
                  <a:pt x="0" y="88453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42259" y="4752221"/>
            <a:ext cx="7601368" cy="6286331"/>
          </a:xfrm>
          <a:custGeom>
            <a:avLst/>
            <a:gdLst/>
            <a:ahLst/>
            <a:cxnLst/>
            <a:rect r="r" b="b" t="t" l="l"/>
            <a:pathLst>
              <a:path h="6286331" w="7601368">
                <a:moveTo>
                  <a:pt x="0" y="0"/>
                </a:moveTo>
                <a:lnTo>
                  <a:pt x="7601368" y="0"/>
                </a:lnTo>
                <a:lnTo>
                  <a:pt x="7601368" y="6286332"/>
                </a:lnTo>
                <a:lnTo>
                  <a:pt x="0" y="6286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908384" y="0"/>
            <a:ext cx="7555798" cy="6683016"/>
          </a:xfrm>
          <a:custGeom>
            <a:avLst/>
            <a:gdLst/>
            <a:ahLst/>
            <a:cxnLst/>
            <a:rect r="r" b="b" t="t" l="l"/>
            <a:pathLst>
              <a:path h="6683016" w="7555798">
                <a:moveTo>
                  <a:pt x="0" y="0"/>
                </a:moveTo>
                <a:lnTo>
                  <a:pt x="7555798" y="0"/>
                </a:lnTo>
                <a:lnTo>
                  <a:pt x="7555798" y="6683016"/>
                </a:lnTo>
                <a:lnTo>
                  <a:pt x="0" y="66830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534559" y="5949843"/>
            <a:ext cx="5113596" cy="5259321"/>
          </a:xfrm>
          <a:custGeom>
            <a:avLst/>
            <a:gdLst/>
            <a:ahLst/>
            <a:cxnLst/>
            <a:rect r="r" b="b" t="t" l="l"/>
            <a:pathLst>
              <a:path h="5259321" w="5113596">
                <a:moveTo>
                  <a:pt x="0" y="0"/>
                </a:moveTo>
                <a:lnTo>
                  <a:pt x="5113597" y="0"/>
                </a:lnTo>
                <a:lnTo>
                  <a:pt x="5113597" y="5259321"/>
                </a:lnTo>
                <a:lnTo>
                  <a:pt x="0" y="52593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3335874" y="5540369"/>
            <a:ext cx="11616251" cy="1357522"/>
          </a:xfrm>
          <a:prstGeom prst="rect">
            <a:avLst/>
          </a:prstGeom>
        </p:spPr>
        <p:txBody>
          <a:bodyPr anchor="t" rtlCol="false" tIns="0" lIns="0" bIns="0" rIns="0">
            <a:spAutoFit/>
          </a:bodyPr>
          <a:lstStyle/>
          <a:p>
            <a:pPr algn="ctr">
              <a:lnSpc>
                <a:spcPts val="10442"/>
              </a:lnSpc>
            </a:pPr>
            <a:r>
              <a:rPr lang="en-US" sz="9493" spc="-427">
                <a:solidFill>
                  <a:srgbClr val="09438A"/>
                </a:solidFill>
                <a:latin typeface="JA Jayagiri Sans Rough"/>
                <a:ea typeface="JA Jayagiri Sans Rough"/>
                <a:cs typeface="JA Jayagiri Sans Rough"/>
                <a:sym typeface="JA Jayagiri Sans Rough"/>
              </a:rPr>
              <a:t>Thank You</a:t>
            </a:r>
          </a:p>
        </p:txBody>
      </p:sp>
      <p:sp>
        <p:nvSpPr>
          <p:cNvPr name="Freeform 8" id="8"/>
          <p:cNvSpPr/>
          <p:nvPr/>
        </p:nvSpPr>
        <p:spPr>
          <a:xfrm flipH="false" flipV="false" rot="0">
            <a:off x="6824717" y="8831712"/>
            <a:ext cx="1468964" cy="1468964"/>
          </a:xfrm>
          <a:custGeom>
            <a:avLst/>
            <a:gdLst/>
            <a:ahLst/>
            <a:cxnLst/>
            <a:rect r="r" b="b" t="t" l="l"/>
            <a:pathLst>
              <a:path h="1468964" w="1468964">
                <a:moveTo>
                  <a:pt x="0" y="0"/>
                </a:moveTo>
                <a:lnTo>
                  <a:pt x="1468964" y="0"/>
                </a:lnTo>
                <a:lnTo>
                  <a:pt x="1468964" y="1468965"/>
                </a:lnTo>
                <a:lnTo>
                  <a:pt x="0" y="14689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0534761" y="480557"/>
            <a:ext cx="1096286" cy="1096286"/>
          </a:xfrm>
          <a:custGeom>
            <a:avLst/>
            <a:gdLst/>
            <a:ahLst/>
            <a:cxnLst/>
            <a:rect r="r" b="b" t="t" l="l"/>
            <a:pathLst>
              <a:path h="1096286" w="1096286">
                <a:moveTo>
                  <a:pt x="0" y="0"/>
                </a:moveTo>
                <a:lnTo>
                  <a:pt x="1096287" y="0"/>
                </a:lnTo>
                <a:lnTo>
                  <a:pt x="1096287" y="1096286"/>
                </a:lnTo>
                <a:lnTo>
                  <a:pt x="0" y="109628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10800000">
            <a:off x="565608" y="3960501"/>
            <a:ext cx="1044364" cy="421543"/>
          </a:xfrm>
          <a:custGeom>
            <a:avLst/>
            <a:gdLst/>
            <a:ahLst/>
            <a:cxnLst/>
            <a:rect r="r" b="b" t="t" l="l"/>
            <a:pathLst>
              <a:path h="421543" w="1044364">
                <a:moveTo>
                  <a:pt x="0" y="0"/>
                </a:moveTo>
                <a:lnTo>
                  <a:pt x="1044364" y="0"/>
                </a:lnTo>
                <a:lnTo>
                  <a:pt x="1044364" y="421543"/>
                </a:lnTo>
                <a:lnTo>
                  <a:pt x="0" y="42154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DAG8_0rLag8</dc:identifier>
  <dcterms:modified xsi:type="dcterms:W3CDTF">2011-08-01T06:04:30Z</dcterms:modified>
  <cp:revision>1</cp:revision>
  <dc:title>PPT AoL Group 5 LA06</dc:title>
</cp:coreProperties>
</file>